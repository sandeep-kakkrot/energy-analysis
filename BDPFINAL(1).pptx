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79" r:id="rId3"/>
    <p:sldId id="276" r:id="rId4"/>
    <p:sldId id="277" r:id="rId5"/>
    <p:sldId id="259" r:id="rId6"/>
    <p:sldId id="260" r:id="rId7"/>
    <p:sldId id="268" r:id="rId8"/>
    <p:sldId id="269" r:id="rId9"/>
    <p:sldId id="270" r:id="rId10"/>
    <p:sldId id="261" r:id="rId11"/>
    <p:sldId id="271" r:id="rId12"/>
    <p:sldId id="263" r:id="rId13"/>
    <p:sldId id="275" r:id="rId14"/>
    <p:sldId id="266" r:id="rId15"/>
    <p:sldId id="274" r:id="rId16"/>
    <p:sldId id="273" r:id="rId17"/>
    <p:sldId id="265" r:id="rId18"/>
    <p:sldId id="278" r:id="rId19"/>
    <p:sldId id="267" r:id="rId20"/>
  </p:sldIdLst>
  <p:sldSz cx="9753600" cy="7315200"/>
  <p:notesSz cx="6858000" cy="9144000"/>
  <p:embeddedFontLs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5" d="100"/>
          <a:sy n="85" d="100"/>
        </p:scale>
        <p:origin x="121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F49AD-2DE8-414B-BC29-C087F2CFE923}" type="datetimeFigureOut">
              <a:rPr lang="en-US" smtClean="0"/>
              <a:t>9/18/2026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DDC138-49AA-804A-B2A9-60C04FDB982B}" type="slidenum">
              <a:rPr lang="en-US" smtClean="0"/>
              <a:t>‹#›</a:t>
            </a:fld>
            <a:endParaRPr lang="en-US"/>
          </a:p>
        </p:txBody>
      </p:sp>
    </p:spTree>
    <p:extLst>
      <p:ext uri="{BB962C8B-B14F-4D97-AF65-F5344CB8AC3E}">
        <p14:creationId xmlns:p14="http://schemas.microsoft.com/office/powerpoint/2010/main" val="180622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Educational institutions consume substantial electricity across diverse facilities such as classrooms, laboratories,</a:t>
            </a:r>
          </a:p>
          <a:p>
            <a:r>
              <a:rPr lang="en-US" dirty="0"/>
              <a:t>
libraries, and student hostels, making efficient energy monitoring a key operational challenge. Traditional</a:t>
            </a:r>
          </a:p>
          <a:p>
            <a:r>
              <a:rPr lang="en-US" dirty="0"/>
              <a:t>
monitoring approaches often lack the capacity to process granular, continuous consumption data across multiple</a:t>
            </a:r>
          </a:p>
          <a:p>
            <a:r>
              <a:rPr lang="en-US" dirty="0"/>
              <a:t>
campus sectors. To address this, this project proposes a Campus Energy Consumption Analysis System</a:t>
            </a:r>
          </a:p>
          <a:p>
            <a:r>
              <a:rPr lang="en-US" dirty="0"/>
              <a:t>
leveraging Big Data processing technologies to collect, aggregate, and evaluate large-scale electricity usage data</a:t>
            </a:r>
          </a:p>
          <a:p>
            <a:r>
              <a:rPr lang="en-US" dirty="0"/>
              <a:t>
across various campus blocks. </a:t>
            </a:r>
          </a:p>
          <a:p>
            <a:r>
              <a:rPr lang="en-US" dirty="0"/>
              <a:t>
The system utilizes the Hadoop Distributed File System (HDFS) for scalable data storage and Apache Spark for</a:t>
            </a:r>
          </a:p>
          <a:p>
            <a:r>
              <a:rPr lang="en-US" dirty="0"/>
              <a:t>
high-speed batch processing and aggregation of consumption metrics. By evaluating high-frequency usage logs</a:t>
            </a:r>
          </a:p>
          <a:p>
            <a:r>
              <a:rPr lang="en-US" dirty="0"/>
              <a:t>
from smart meters and sub-metering points, the framework pinpoints high-consumption blocks, identifies daily and</a:t>
            </a:r>
          </a:p>
          <a:p>
            <a:r>
              <a:rPr lang="en-US" dirty="0"/>
              <a:t>
seasonal peak-usage intervals, and detects localized energy wastage patterns. Rather than focusing on predictive</a:t>
            </a:r>
          </a:p>
          <a:p>
            <a:r>
              <a:rPr lang="en-US" dirty="0"/>
              <a:t>
modeling, this project prioritizes comprehensive descriptive and diagnostic analysis. The processed insights are</a:t>
            </a:r>
          </a:p>
          <a:p>
            <a:r>
              <a:rPr lang="en-US" dirty="0"/>
              <a:t>
presented through an interactive analytics dashboard, empowering campus administrators and facility managers</a:t>
            </a:r>
          </a:p>
          <a:p>
            <a:r>
              <a:rPr lang="en-US" dirty="0"/>
              <a:t>
with clear, actionable visibility to optimize resource allocation, curb unnecessary power consumption, and promote</a:t>
            </a:r>
          </a:p>
          <a:p>
            <a:r>
              <a:rPr lang="en-US" dirty="0"/>
              <a:t>
sustainable energy management.</a:t>
            </a:r>
          </a:p>
        </p:txBody>
      </p:sp>
      <p:sp>
        <p:nvSpPr>
          <p:cNvPr id="4" name="Slide Number Placeholder 3"/>
          <p:cNvSpPr>
            <a:spLocks noGrp="1"/>
          </p:cNvSpPr>
          <p:nvPr>
            <p:ph type="sldNum" sz="quarter" idx="5"/>
          </p:nvPr>
        </p:nvSpPr>
        <p:spPr/>
        <p:txBody>
          <a:bodyPr/>
          <a:lstStyle/>
          <a:p>
            <a:fld id="{22DDC138-49AA-804A-B2A9-60C04FDB982B}" type="slidenum">
              <a:rPr lang="en-US" smtClean="0"/>
              <a:t>5</a:t>
            </a:fld>
            <a:endParaRPr lang="en-US"/>
          </a:p>
        </p:txBody>
      </p:sp>
    </p:spTree>
    <p:extLst>
      <p:ext uri="{BB962C8B-B14F-4D97-AF65-F5344CB8AC3E}">
        <p14:creationId xmlns:p14="http://schemas.microsoft.com/office/powerpoint/2010/main" val="4241655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1743827" y="305714"/>
            <a:ext cx="7733919" cy="1265311"/>
            <a:chOff x="0" y="0"/>
            <a:chExt cx="10311892" cy="1687081"/>
          </a:xfrm>
        </p:grpSpPr>
        <p:sp>
          <p:nvSpPr>
            <p:cNvPr id="10" name="Freeform 10"/>
            <p:cNvSpPr/>
            <p:nvPr/>
          </p:nvSpPr>
          <p:spPr>
            <a:xfrm>
              <a:off x="0" y="0"/>
              <a:ext cx="10311888" cy="1687079"/>
            </a:xfrm>
            <a:custGeom>
              <a:avLst/>
              <a:gdLst/>
              <a:ahLst/>
              <a:cxnLst/>
              <a:rect l="l" t="t" r="r" b="b"/>
              <a:pathLst>
                <a:path w="10311888" h="1687079">
                  <a:moveTo>
                    <a:pt x="0" y="0"/>
                  </a:moveTo>
                  <a:lnTo>
                    <a:pt x="10311888" y="0"/>
                  </a:lnTo>
                  <a:lnTo>
                    <a:pt x="10311888" y="1687079"/>
                  </a:lnTo>
                  <a:lnTo>
                    <a:pt x="0" y="1687079"/>
                  </a:lnTo>
                  <a:close/>
                </a:path>
              </a:pathLst>
            </a:custGeom>
            <a:blipFill>
              <a:blip r:embed="rId3">
                <a:alphaModFix amt="0"/>
              </a:blip>
              <a:stretch>
                <a:fillRect t="-70444" b="-67750"/>
              </a:stretch>
            </a:blipFill>
          </p:spPr>
        </p:sp>
        <p:sp>
          <p:nvSpPr>
            <p:cNvPr id="11" name="TextBox 11"/>
            <p:cNvSpPr txBox="1"/>
            <p:nvPr/>
          </p:nvSpPr>
          <p:spPr>
            <a:xfrm>
              <a:off x="0" y="38100"/>
              <a:ext cx="10311892" cy="1648981"/>
            </a:xfrm>
            <a:prstGeom prst="rect">
              <a:avLst/>
            </a:prstGeom>
          </p:spPr>
          <p:txBody>
            <a:bodyPr lIns="0" tIns="0" rIns="0" bIns="0" rtlCol="0" anchor="b"/>
            <a:lstStyle/>
            <a:p>
              <a:pPr lvl="2">
                <a:lnSpc>
                  <a:spcPts val="3916"/>
                </a:lnSpc>
              </a:pPr>
              <a:r>
                <a:rPr lang="en-US" sz="3200" spc="-76" dirty="0">
                  <a:solidFill>
                    <a:srgbClr val="404040"/>
                  </a:solidFill>
                  <a:latin typeface="Times New Roman" panose="02020603050405020304" pitchFamily="18" charset="0"/>
                  <a:ea typeface="Times New Roman"/>
                  <a:cs typeface="Times New Roman" panose="02020603050405020304" pitchFamily="18" charset="0"/>
                  <a:sym typeface="Times New Roman"/>
                </a:rPr>
                <a:t>CAMPUS ENERGY CONSUMPTION ANALYSIS USING BIG DATA PROCESSING</a:t>
              </a:r>
            </a:p>
          </p:txBody>
        </p:sp>
      </p:grpSp>
      <p:grpSp>
        <p:nvGrpSpPr>
          <p:cNvPr id="13" name="Group 13"/>
          <p:cNvGrpSpPr/>
          <p:nvPr/>
        </p:nvGrpSpPr>
        <p:grpSpPr>
          <a:xfrm>
            <a:off x="838200" y="6883298"/>
            <a:ext cx="2017443" cy="396611"/>
            <a:chOff x="-52832" y="-9525"/>
            <a:chExt cx="2689924" cy="528814"/>
          </a:xfrm>
        </p:grpSpPr>
        <p:sp>
          <p:nvSpPr>
            <p:cNvPr id="14" name="Freeform 14"/>
            <p:cNvSpPr/>
            <p:nvPr/>
          </p:nvSpPr>
          <p:spPr>
            <a:xfrm>
              <a:off x="-52832" y="0"/>
              <a:ext cx="2637089" cy="519286"/>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5" name="TextBox 15"/>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6" name="Group 16"/>
          <p:cNvGrpSpPr/>
          <p:nvPr/>
        </p:nvGrpSpPr>
        <p:grpSpPr>
          <a:xfrm>
            <a:off x="2948950" y="6890442"/>
            <a:ext cx="3858244" cy="389467"/>
            <a:chOff x="0" y="0"/>
            <a:chExt cx="5144326" cy="519289"/>
          </a:xfrm>
        </p:grpSpPr>
        <p:sp>
          <p:nvSpPr>
            <p:cNvPr id="17" name="Freeform 17"/>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18" name="TextBox 18"/>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grpSp>
        <p:nvGrpSpPr>
          <p:cNvPr id="19" name="Group 19"/>
          <p:cNvGrpSpPr/>
          <p:nvPr/>
        </p:nvGrpSpPr>
        <p:grpSpPr>
          <a:xfrm>
            <a:off x="7920371" y="6890442"/>
            <a:ext cx="1049617" cy="389467"/>
            <a:chOff x="0" y="0"/>
            <a:chExt cx="1399489" cy="519289"/>
          </a:xfrm>
        </p:grpSpPr>
        <p:sp>
          <p:nvSpPr>
            <p:cNvPr id="20" name="Freeform 20"/>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21" name="TextBox 21"/>
            <p:cNvSpPr txBox="1"/>
            <p:nvPr/>
          </p:nvSpPr>
          <p:spPr>
            <a:xfrm>
              <a:off x="0" y="-19050"/>
              <a:ext cx="1399489" cy="538339"/>
            </a:xfrm>
            <a:prstGeom prst="rect">
              <a:avLst/>
            </a:prstGeom>
          </p:spPr>
          <p:txBody>
            <a:bodyPr lIns="0" tIns="0" rIns="0" bIns="0" rtlCol="0" anchor="ctr"/>
            <a:lstStyle/>
            <a:p>
              <a:pPr algn="r">
                <a:lnSpc>
                  <a:spcPts val="1344"/>
                </a:lnSpc>
              </a:pPr>
              <a:r>
                <a:rPr lang="en-US" sz="1120">
                  <a:solidFill>
                    <a:srgbClr val="FFFFFF"/>
                  </a:solidFill>
                  <a:latin typeface="Times New Roman" panose="02020603050405020304" pitchFamily="18" charset="0"/>
                  <a:ea typeface="Times New Roman"/>
                  <a:cs typeface="Times New Roman" panose="02020603050405020304" pitchFamily="18" charset="0"/>
                  <a:sym typeface="Times New Roman"/>
                </a:rPr>
                <a:t>1</a:t>
              </a:r>
            </a:p>
          </p:txBody>
        </p:sp>
      </p:grpSp>
      <p:sp>
        <p:nvSpPr>
          <p:cNvPr id="22" name="TextBox 22"/>
          <p:cNvSpPr txBox="1"/>
          <p:nvPr/>
        </p:nvSpPr>
        <p:spPr>
          <a:xfrm>
            <a:off x="509448" y="1914338"/>
            <a:ext cx="7859306" cy="276999"/>
          </a:xfrm>
          <a:prstGeom prst="rect">
            <a:avLst/>
          </a:prstGeom>
        </p:spPr>
        <p:txBody>
          <a:bodyPr wrap="square" lIns="0" tIns="0" rIns="0" bIns="0" rtlCol="0" anchor="t">
            <a:spAutoFit/>
          </a:bodyPr>
          <a:lstStyle/>
          <a:p>
            <a:r>
              <a:rPr lang="en-US" b="1" dirty="0">
                <a:latin typeface="Times New Roman" panose="02020603050405020304" pitchFamily="18" charset="0"/>
                <a:cs typeface="Times New Roman" panose="02020603050405020304" pitchFamily="18" charset="0"/>
              </a:rPr>
              <a:t>Group no - 4</a:t>
            </a:r>
            <a:endParaRPr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D26F684C-6287-CF55-6B94-202DD4E79212}"/>
              </a:ext>
            </a:extLst>
          </p:cNvPr>
          <p:cNvSpPr txBox="1"/>
          <p:nvPr/>
        </p:nvSpPr>
        <p:spPr>
          <a:xfrm>
            <a:off x="509448" y="2364938"/>
            <a:ext cx="4879004" cy="2585323"/>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Sandeep P (26)</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Merin G S (19)</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Devika</a:t>
            </a:r>
            <a:r>
              <a:rPr lang="en-US" dirty="0">
                <a:latin typeface="Times New Roman" panose="02020603050405020304" pitchFamily="18" charset="0"/>
                <a:cs typeface="Times New Roman" panose="02020603050405020304" pitchFamily="18" charset="0"/>
              </a:rPr>
              <a:t> Rajesh (13)</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Sivani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Thulaseedharan</a:t>
            </a:r>
            <a:r>
              <a:rPr lang="en-US" dirty="0">
                <a:latin typeface="Times New Roman" panose="02020603050405020304" pitchFamily="18" charset="0"/>
                <a:cs typeface="Times New Roman" panose="02020603050405020304" pitchFamily="18" charset="0"/>
              </a:rPr>
              <a:t> (28)</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Aiswarya</a:t>
            </a:r>
            <a:r>
              <a:rPr lang="en-US" dirty="0">
                <a:latin typeface="Times New Roman" panose="02020603050405020304" pitchFamily="18" charset="0"/>
                <a:cs typeface="Times New Roman" panose="02020603050405020304" pitchFamily="18" charset="0"/>
              </a:rPr>
              <a:t> A S (4)</a:t>
            </a:r>
          </a:p>
        </p:txBody>
      </p:sp>
      <p:sp>
        <p:nvSpPr>
          <p:cNvPr id="26" name="TextBox 25">
            <a:extLst>
              <a:ext uri="{FF2B5EF4-FFF2-40B4-BE49-F238E27FC236}">
                <a16:creationId xmlns:a16="http://schemas.microsoft.com/office/drawing/2014/main" id="{E2183CCE-5C1B-F5C5-26FC-388911741767}"/>
              </a:ext>
            </a:extLst>
          </p:cNvPr>
          <p:cNvSpPr txBox="1"/>
          <p:nvPr/>
        </p:nvSpPr>
        <p:spPr>
          <a:xfrm>
            <a:off x="5160188" y="5044147"/>
            <a:ext cx="4879004" cy="1200329"/>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Geethu</a:t>
            </a:r>
            <a:r>
              <a:rPr lang="en-US" dirty="0">
                <a:latin typeface="Times New Roman" panose="02020603050405020304" pitchFamily="18" charset="0"/>
                <a:cs typeface="Times New Roman" panose="02020603050405020304" pitchFamily="18" charset="0"/>
              </a:rPr>
              <a:t> Raj </a:t>
            </a:r>
          </a:p>
          <a:p>
            <a:r>
              <a:rPr lang="en-US" dirty="0">
                <a:latin typeface="Times New Roman" panose="02020603050405020304" pitchFamily="18" charset="0"/>
                <a:cs typeface="Times New Roman" panose="02020603050405020304" pitchFamily="18" charset="0"/>
              </a:rPr>
              <a:t>Vishakh V Nair</a:t>
            </a:r>
          </a:p>
          <a:p>
            <a:r>
              <a:rPr lang="en-US" dirty="0">
                <a:latin typeface="Times New Roman" panose="02020603050405020304" pitchFamily="18" charset="0"/>
                <a:cs typeface="Times New Roman" panose="02020603050405020304" pitchFamily="18" charset="0"/>
              </a:rPr>
              <a:t>Computer Science and Engineering </a:t>
            </a:r>
            <a:r>
              <a:rPr lang="en-US" dirty="0" err="1">
                <a:latin typeface="Times New Roman" panose="02020603050405020304" pitchFamily="18" charset="0"/>
                <a:cs typeface="Times New Roman" panose="02020603050405020304" pitchFamily="18" charset="0"/>
              </a:rPr>
              <a:t>St.Thomas</a:t>
            </a:r>
            <a:r>
              <a:rPr lang="en-US" dirty="0">
                <a:latin typeface="Times New Roman" panose="02020603050405020304" pitchFamily="18" charset="0"/>
                <a:cs typeface="Times New Roman" panose="02020603050405020304" pitchFamily="18" charset="0"/>
              </a:rPr>
              <a:t> Institute for Science and Technology</a:t>
            </a:r>
          </a:p>
        </p:txBody>
      </p:sp>
      <p:sp>
        <p:nvSpPr>
          <p:cNvPr id="28" name="TextBox 27">
            <a:extLst>
              <a:ext uri="{FF2B5EF4-FFF2-40B4-BE49-F238E27FC236}">
                <a16:creationId xmlns:a16="http://schemas.microsoft.com/office/drawing/2014/main" id="{5D68381E-E688-D198-3D86-A0866553742E}"/>
              </a:ext>
            </a:extLst>
          </p:cNvPr>
          <p:cNvSpPr txBox="1"/>
          <p:nvPr/>
        </p:nvSpPr>
        <p:spPr>
          <a:xfrm>
            <a:off x="509448" y="5044147"/>
            <a:ext cx="3848857"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Computer Science and Engineering (Data Science), </a:t>
            </a:r>
            <a:r>
              <a:rPr lang="en-US" dirty="0" err="1">
                <a:latin typeface="Times New Roman" panose="02020603050405020304" pitchFamily="18" charset="0"/>
                <a:cs typeface="Times New Roman" panose="02020603050405020304" pitchFamily="18" charset="0"/>
              </a:rPr>
              <a:t>St.Thomas</a:t>
            </a:r>
            <a:r>
              <a:rPr lang="en-US" dirty="0">
                <a:latin typeface="Times New Roman" panose="02020603050405020304" pitchFamily="18" charset="0"/>
                <a:cs typeface="Times New Roman" panose="02020603050405020304" pitchFamily="18" charset="0"/>
              </a:rPr>
              <a:t> Institute for Science and Technology</a:t>
            </a:r>
          </a:p>
        </p:txBody>
      </p:sp>
      <p:sp>
        <p:nvSpPr>
          <p:cNvPr id="30" name="TextBox 29">
            <a:extLst>
              <a:ext uri="{FF2B5EF4-FFF2-40B4-BE49-F238E27FC236}">
                <a16:creationId xmlns:a16="http://schemas.microsoft.com/office/drawing/2014/main" id="{6F0D2D47-556D-23F2-ECDB-682F99266C57}"/>
              </a:ext>
            </a:extLst>
          </p:cNvPr>
          <p:cNvSpPr txBox="1"/>
          <p:nvPr/>
        </p:nvSpPr>
        <p:spPr>
          <a:xfrm>
            <a:off x="511209" y="5992709"/>
            <a:ext cx="502069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7/08/2028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DEB7-0527-A35E-AAAE-F4996F6033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FB8285C-E166-C537-A912-FE56D9EB1B95}"/>
              </a:ext>
            </a:extLst>
          </p:cNvPr>
          <p:cNvGrpSpPr/>
          <p:nvPr/>
        </p:nvGrpSpPr>
        <p:grpSpPr>
          <a:xfrm>
            <a:off x="0" y="6827520"/>
            <a:ext cx="9753600" cy="487680"/>
            <a:chOff x="0" y="0"/>
            <a:chExt cx="13004800" cy="650240"/>
          </a:xfrm>
        </p:grpSpPr>
        <p:sp>
          <p:nvSpPr>
            <p:cNvPr id="3" name="Freeform 3">
              <a:extLst>
                <a:ext uri="{FF2B5EF4-FFF2-40B4-BE49-F238E27FC236}">
                  <a16:creationId xmlns:a16="http://schemas.microsoft.com/office/drawing/2014/main" id="{968C6FBC-140C-89B8-8240-A291264EC2BE}"/>
                </a:ext>
              </a:extLst>
            </p:cNvPr>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a:extLst>
              <a:ext uri="{FF2B5EF4-FFF2-40B4-BE49-F238E27FC236}">
                <a16:creationId xmlns:a16="http://schemas.microsoft.com/office/drawing/2014/main" id="{F564730B-7F27-B3D0-A697-DCEF4CA1A0E9}"/>
              </a:ext>
            </a:extLst>
          </p:cNvPr>
          <p:cNvGrpSpPr/>
          <p:nvPr/>
        </p:nvGrpSpPr>
        <p:grpSpPr>
          <a:xfrm>
            <a:off x="0" y="6756606"/>
            <a:ext cx="9753600" cy="70399"/>
            <a:chOff x="0" y="0"/>
            <a:chExt cx="13004800" cy="93866"/>
          </a:xfrm>
        </p:grpSpPr>
        <p:sp>
          <p:nvSpPr>
            <p:cNvPr id="5" name="Freeform 5">
              <a:extLst>
                <a:ext uri="{FF2B5EF4-FFF2-40B4-BE49-F238E27FC236}">
                  <a16:creationId xmlns:a16="http://schemas.microsoft.com/office/drawing/2014/main" id="{805262EC-DB2A-D1C2-41AA-0975DCF98773}"/>
                </a:ext>
              </a:extLst>
            </p:cNvPr>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a:extLst>
              <a:ext uri="{FF2B5EF4-FFF2-40B4-BE49-F238E27FC236}">
                <a16:creationId xmlns:a16="http://schemas.microsoft.com/office/drawing/2014/main" id="{349079C2-E70E-5FAE-DEB1-C119A0392485}"/>
              </a:ext>
            </a:extLst>
          </p:cNvPr>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a:extLst>
              <a:ext uri="{FF2B5EF4-FFF2-40B4-BE49-F238E27FC236}">
                <a16:creationId xmlns:a16="http://schemas.microsoft.com/office/drawing/2014/main" id="{0EA1B674-0CA8-7D8C-EF3A-CB1526E9887D}"/>
              </a:ext>
            </a:extLst>
          </p:cNvPr>
          <p:cNvGrpSpPr/>
          <p:nvPr/>
        </p:nvGrpSpPr>
        <p:grpSpPr>
          <a:xfrm>
            <a:off x="0" y="190109"/>
            <a:ext cx="1644186" cy="1547470"/>
            <a:chOff x="0" y="0"/>
            <a:chExt cx="2192249" cy="2063293"/>
          </a:xfrm>
        </p:grpSpPr>
        <p:sp>
          <p:nvSpPr>
            <p:cNvPr id="8" name="Freeform 8">
              <a:extLst>
                <a:ext uri="{FF2B5EF4-FFF2-40B4-BE49-F238E27FC236}">
                  <a16:creationId xmlns:a16="http://schemas.microsoft.com/office/drawing/2014/main" id="{C8CFAC1D-DFC5-02E3-1A6C-BD28D4F9E1C9}"/>
                </a:ext>
              </a:extLst>
            </p:cNvPr>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a:extLst>
              <a:ext uri="{FF2B5EF4-FFF2-40B4-BE49-F238E27FC236}">
                <a16:creationId xmlns:a16="http://schemas.microsoft.com/office/drawing/2014/main" id="{A8E45AD2-FDFC-6174-5764-0257F388E954}"/>
              </a:ext>
            </a:extLst>
          </p:cNvPr>
          <p:cNvGrpSpPr/>
          <p:nvPr/>
        </p:nvGrpSpPr>
        <p:grpSpPr>
          <a:xfrm>
            <a:off x="1743827" y="305714"/>
            <a:ext cx="7733919" cy="1265311"/>
            <a:chOff x="0" y="0"/>
            <a:chExt cx="10311892" cy="1687081"/>
          </a:xfrm>
        </p:grpSpPr>
        <p:sp>
          <p:nvSpPr>
            <p:cNvPr id="10" name="Freeform 10">
              <a:extLst>
                <a:ext uri="{FF2B5EF4-FFF2-40B4-BE49-F238E27FC236}">
                  <a16:creationId xmlns:a16="http://schemas.microsoft.com/office/drawing/2014/main" id="{EFBF573E-59A8-4DEB-6284-FD63C8CC7BDB}"/>
                </a:ext>
              </a:extLst>
            </p:cNvPr>
            <p:cNvSpPr/>
            <p:nvPr/>
          </p:nvSpPr>
          <p:spPr>
            <a:xfrm>
              <a:off x="0" y="0"/>
              <a:ext cx="10311888" cy="1687079"/>
            </a:xfrm>
            <a:custGeom>
              <a:avLst/>
              <a:gdLst/>
              <a:ahLst/>
              <a:cxnLst/>
              <a:rect l="l" t="t" r="r" b="b"/>
              <a:pathLst>
                <a:path w="10311888" h="1687079">
                  <a:moveTo>
                    <a:pt x="0" y="0"/>
                  </a:moveTo>
                  <a:lnTo>
                    <a:pt x="10311888" y="0"/>
                  </a:lnTo>
                  <a:lnTo>
                    <a:pt x="10311888" y="1687079"/>
                  </a:lnTo>
                  <a:lnTo>
                    <a:pt x="0" y="1687079"/>
                  </a:lnTo>
                  <a:close/>
                </a:path>
              </a:pathLst>
            </a:custGeom>
            <a:blipFill>
              <a:blip r:embed="rId3">
                <a:alphaModFix amt="0"/>
              </a:blip>
              <a:stretch>
                <a:fillRect t="-70444" b="-67750"/>
              </a:stretch>
            </a:blipFill>
          </p:spPr>
        </p:sp>
        <p:sp>
          <p:nvSpPr>
            <p:cNvPr id="11" name="TextBox 11">
              <a:extLst>
                <a:ext uri="{FF2B5EF4-FFF2-40B4-BE49-F238E27FC236}">
                  <a16:creationId xmlns:a16="http://schemas.microsoft.com/office/drawing/2014/main" id="{FB1D9A14-17CF-40A8-4D10-7C490DEF0922}"/>
                </a:ext>
              </a:extLst>
            </p:cNvPr>
            <p:cNvSpPr txBox="1"/>
            <p:nvPr/>
          </p:nvSpPr>
          <p:spPr>
            <a:xfrm>
              <a:off x="0" y="38100"/>
              <a:ext cx="10311892" cy="1648981"/>
            </a:xfrm>
            <a:prstGeom prst="rect">
              <a:avLst/>
            </a:prstGeom>
          </p:spPr>
          <p:txBody>
            <a:bodyPr lIns="0" tIns="0" rIns="0" bIns="0" rtlCol="0" anchor="b"/>
            <a:lstStyle/>
            <a:p>
              <a:pPr lvl="2">
                <a:lnSpc>
                  <a:spcPts val="3916"/>
                </a:lnSpc>
              </a:pPr>
              <a:r>
                <a:rPr lang="en-US" sz="3200" spc="-76" dirty="0">
                  <a:solidFill>
                    <a:srgbClr val="404040"/>
                  </a:solidFill>
                  <a:latin typeface="Times New Roman" panose="02020603050405020304" pitchFamily="18" charset="0"/>
                  <a:ea typeface="Times New Roman"/>
                  <a:cs typeface="Times New Roman" panose="02020603050405020304" pitchFamily="18" charset="0"/>
                  <a:sym typeface="Times New Roman"/>
                </a:rPr>
                <a:t>CAMPUS ENERGY CONSUMPTION ANALYSIS USING BIG DATA PROCESSING</a:t>
              </a:r>
            </a:p>
          </p:txBody>
        </p:sp>
      </p:grpSp>
      <p:grpSp>
        <p:nvGrpSpPr>
          <p:cNvPr id="13" name="Group 13">
            <a:extLst>
              <a:ext uri="{FF2B5EF4-FFF2-40B4-BE49-F238E27FC236}">
                <a16:creationId xmlns:a16="http://schemas.microsoft.com/office/drawing/2014/main" id="{FE03E3FA-3997-5E30-E037-B58271BA44AD}"/>
              </a:ext>
            </a:extLst>
          </p:cNvPr>
          <p:cNvGrpSpPr/>
          <p:nvPr/>
        </p:nvGrpSpPr>
        <p:grpSpPr>
          <a:xfrm>
            <a:off x="838200" y="6883298"/>
            <a:ext cx="2017443" cy="396611"/>
            <a:chOff x="-52832" y="-9525"/>
            <a:chExt cx="2689924" cy="528814"/>
          </a:xfrm>
        </p:grpSpPr>
        <p:sp>
          <p:nvSpPr>
            <p:cNvPr id="14" name="Freeform 14">
              <a:extLst>
                <a:ext uri="{FF2B5EF4-FFF2-40B4-BE49-F238E27FC236}">
                  <a16:creationId xmlns:a16="http://schemas.microsoft.com/office/drawing/2014/main" id="{1D6E972E-D062-396B-FC35-CA4F5FC5EBBA}"/>
                </a:ext>
              </a:extLst>
            </p:cNvPr>
            <p:cNvSpPr/>
            <p:nvPr/>
          </p:nvSpPr>
          <p:spPr>
            <a:xfrm>
              <a:off x="-52832" y="0"/>
              <a:ext cx="2637089" cy="519286"/>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5" name="TextBox 15">
              <a:extLst>
                <a:ext uri="{FF2B5EF4-FFF2-40B4-BE49-F238E27FC236}">
                  <a16:creationId xmlns:a16="http://schemas.microsoft.com/office/drawing/2014/main" id="{DE0849CA-D680-5E35-5588-9B8532CBBEAD}"/>
                </a:ext>
              </a:extLst>
            </p:cNvPr>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6" name="Group 16">
            <a:extLst>
              <a:ext uri="{FF2B5EF4-FFF2-40B4-BE49-F238E27FC236}">
                <a16:creationId xmlns:a16="http://schemas.microsoft.com/office/drawing/2014/main" id="{04EFD3CD-1CF7-158C-C47F-4FCEEE27319D}"/>
              </a:ext>
            </a:extLst>
          </p:cNvPr>
          <p:cNvGrpSpPr/>
          <p:nvPr/>
        </p:nvGrpSpPr>
        <p:grpSpPr>
          <a:xfrm>
            <a:off x="2948950" y="6890442"/>
            <a:ext cx="3858244" cy="389467"/>
            <a:chOff x="0" y="0"/>
            <a:chExt cx="5144326" cy="519289"/>
          </a:xfrm>
        </p:grpSpPr>
        <p:sp>
          <p:nvSpPr>
            <p:cNvPr id="17" name="Freeform 17">
              <a:extLst>
                <a:ext uri="{FF2B5EF4-FFF2-40B4-BE49-F238E27FC236}">
                  <a16:creationId xmlns:a16="http://schemas.microsoft.com/office/drawing/2014/main" id="{90A205B9-E836-1B2D-E312-417E3B220881}"/>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18" name="TextBox 18">
              <a:extLst>
                <a:ext uri="{FF2B5EF4-FFF2-40B4-BE49-F238E27FC236}">
                  <a16:creationId xmlns:a16="http://schemas.microsoft.com/office/drawing/2014/main" id="{7C4315AA-3F69-301F-771E-89B3899BC8B5}"/>
                </a:ext>
              </a:extLst>
            </p:cNvPr>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grpSp>
        <p:nvGrpSpPr>
          <p:cNvPr id="19" name="Group 19">
            <a:extLst>
              <a:ext uri="{FF2B5EF4-FFF2-40B4-BE49-F238E27FC236}">
                <a16:creationId xmlns:a16="http://schemas.microsoft.com/office/drawing/2014/main" id="{D91A3432-E363-E3D1-2670-813CF47FD38D}"/>
              </a:ext>
            </a:extLst>
          </p:cNvPr>
          <p:cNvGrpSpPr/>
          <p:nvPr/>
        </p:nvGrpSpPr>
        <p:grpSpPr>
          <a:xfrm>
            <a:off x="7920371" y="6890442"/>
            <a:ext cx="1049617" cy="389467"/>
            <a:chOff x="0" y="0"/>
            <a:chExt cx="1399489" cy="519289"/>
          </a:xfrm>
        </p:grpSpPr>
        <p:sp>
          <p:nvSpPr>
            <p:cNvPr id="20" name="Freeform 20">
              <a:extLst>
                <a:ext uri="{FF2B5EF4-FFF2-40B4-BE49-F238E27FC236}">
                  <a16:creationId xmlns:a16="http://schemas.microsoft.com/office/drawing/2014/main" id="{845AF73B-F1DD-D51C-82B9-29A199AF174B}"/>
                </a:ext>
              </a:extLst>
            </p:cNvPr>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21" name="TextBox 21">
              <a:extLst>
                <a:ext uri="{FF2B5EF4-FFF2-40B4-BE49-F238E27FC236}">
                  <a16:creationId xmlns:a16="http://schemas.microsoft.com/office/drawing/2014/main" id="{DC3B738C-4E61-8845-C559-1D560CA71F01}"/>
                </a:ext>
              </a:extLst>
            </p:cNvPr>
            <p:cNvSpPr txBox="1"/>
            <p:nvPr/>
          </p:nvSpPr>
          <p:spPr>
            <a:xfrm>
              <a:off x="0" y="-19050"/>
              <a:ext cx="1399489" cy="538339"/>
            </a:xfrm>
            <a:prstGeom prst="rect">
              <a:avLst/>
            </a:prstGeom>
          </p:spPr>
          <p:txBody>
            <a:bodyPr lIns="0" tIns="0" rIns="0" bIns="0" rtlCol="0" anchor="ctr"/>
            <a:lstStyle/>
            <a:p>
              <a:pPr algn="r">
                <a:lnSpc>
                  <a:spcPts val="1344"/>
                </a:lnSpc>
              </a:pPr>
              <a:r>
                <a:rPr lang="en-US" sz="1120">
                  <a:solidFill>
                    <a:srgbClr val="FFFFFF"/>
                  </a:solidFill>
                  <a:latin typeface="Times New Roman" panose="02020603050405020304" pitchFamily="18" charset="0"/>
                  <a:ea typeface="Times New Roman"/>
                  <a:cs typeface="Times New Roman" panose="02020603050405020304" pitchFamily="18" charset="0"/>
                  <a:sym typeface="Times New Roman"/>
                </a:rPr>
                <a:t>1</a:t>
              </a:r>
            </a:p>
          </p:txBody>
        </p:sp>
      </p:grpSp>
      <p:sp>
        <p:nvSpPr>
          <p:cNvPr id="22" name="TextBox 22">
            <a:extLst>
              <a:ext uri="{FF2B5EF4-FFF2-40B4-BE49-F238E27FC236}">
                <a16:creationId xmlns:a16="http://schemas.microsoft.com/office/drawing/2014/main" id="{F5D3F2B0-A36E-16D1-F973-CDDE9AD16FA1}"/>
              </a:ext>
            </a:extLst>
          </p:cNvPr>
          <p:cNvSpPr txBox="1"/>
          <p:nvPr/>
        </p:nvSpPr>
        <p:spPr>
          <a:xfrm>
            <a:off x="509448" y="1914338"/>
            <a:ext cx="7859306" cy="276999"/>
          </a:xfrm>
          <a:prstGeom prst="rect">
            <a:avLst/>
          </a:prstGeom>
        </p:spPr>
        <p:txBody>
          <a:bodyPr wrap="square" lIns="0" tIns="0" rIns="0" bIns="0" rtlCol="0" anchor="t">
            <a:spAutoFit/>
          </a:bodyPr>
          <a:lstStyle/>
          <a:p>
            <a:r>
              <a:rPr lang="en-US" b="1" dirty="0">
                <a:latin typeface="Times New Roman" panose="02020603050405020304" pitchFamily="18" charset="0"/>
                <a:cs typeface="Times New Roman" panose="02020603050405020304" pitchFamily="18" charset="0"/>
              </a:rPr>
              <a:t>Group no - 4</a:t>
            </a:r>
            <a:endParaRPr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1CBD6B8-DD4D-495C-4D30-928FF41EFE82}"/>
              </a:ext>
            </a:extLst>
          </p:cNvPr>
          <p:cNvSpPr txBox="1"/>
          <p:nvPr/>
        </p:nvSpPr>
        <p:spPr>
          <a:xfrm>
            <a:off x="509448" y="2364938"/>
            <a:ext cx="4879004" cy="2585323"/>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Sandeep P (26)</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Merin G S (19)</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Devika</a:t>
            </a:r>
            <a:r>
              <a:rPr lang="en-US" dirty="0">
                <a:latin typeface="Times New Roman" panose="02020603050405020304" pitchFamily="18" charset="0"/>
                <a:cs typeface="Times New Roman" panose="02020603050405020304" pitchFamily="18" charset="0"/>
              </a:rPr>
              <a:t> Rajesh (13)</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Sivani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Thulaseedharan</a:t>
            </a:r>
            <a:r>
              <a:rPr lang="en-US" dirty="0">
                <a:latin typeface="Times New Roman" panose="02020603050405020304" pitchFamily="18" charset="0"/>
                <a:cs typeface="Times New Roman" panose="02020603050405020304" pitchFamily="18" charset="0"/>
              </a:rPr>
              <a:t> (28)</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Aiswarya</a:t>
            </a:r>
            <a:r>
              <a:rPr lang="en-US" dirty="0">
                <a:latin typeface="Times New Roman" panose="02020603050405020304" pitchFamily="18" charset="0"/>
                <a:cs typeface="Times New Roman" panose="02020603050405020304" pitchFamily="18" charset="0"/>
              </a:rPr>
              <a:t> A S (4)</a:t>
            </a:r>
          </a:p>
        </p:txBody>
      </p:sp>
      <p:sp>
        <p:nvSpPr>
          <p:cNvPr id="26" name="TextBox 25">
            <a:extLst>
              <a:ext uri="{FF2B5EF4-FFF2-40B4-BE49-F238E27FC236}">
                <a16:creationId xmlns:a16="http://schemas.microsoft.com/office/drawing/2014/main" id="{8D35B399-46F7-5A0E-5F9D-B7DC241E06BB}"/>
              </a:ext>
            </a:extLst>
          </p:cNvPr>
          <p:cNvSpPr txBox="1"/>
          <p:nvPr/>
        </p:nvSpPr>
        <p:spPr>
          <a:xfrm>
            <a:off x="5160188" y="5044147"/>
            <a:ext cx="4879004" cy="1200329"/>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Geethu</a:t>
            </a:r>
            <a:r>
              <a:rPr lang="en-US" dirty="0">
                <a:latin typeface="Times New Roman" panose="02020603050405020304" pitchFamily="18" charset="0"/>
                <a:cs typeface="Times New Roman" panose="02020603050405020304" pitchFamily="18" charset="0"/>
              </a:rPr>
              <a:t> Raj </a:t>
            </a:r>
          </a:p>
          <a:p>
            <a:r>
              <a:rPr lang="en-US" dirty="0">
                <a:latin typeface="Times New Roman" panose="02020603050405020304" pitchFamily="18" charset="0"/>
                <a:cs typeface="Times New Roman" panose="02020603050405020304" pitchFamily="18" charset="0"/>
              </a:rPr>
              <a:t>Vishakh V Nair</a:t>
            </a:r>
          </a:p>
          <a:p>
            <a:r>
              <a:rPr lang="en-US" dirty="0">
                <a:latin typeface="Times New Roman" panose="02020603050405020304" pitchFamily="18" charset="0"/>
                <a:cs typeface="Times New Roman" panose="02020603050405020304" pitchFamily="18" charset="0"/>
              </a:rPr>
              <a:t>Computer Science and Engineering </a:t>
            </a:r>
            <a:r>
              <a:rPr lang="en-US" dirty="0" err="1">
                <a:latin typeface="Times New Roman" panose="02020603050405020304" pitchFamily="18" charset="0"/>
                <a:cs typeface="Times New Roman" panose="02020603050405020304" pitchFamily="18" charset="0"/>
              </a:rPr>
              <a:t>St.Thomas</a:t>
            </a:r>
            <a:r>
              <a:rPr lang="en-US" dirty="0">
                <a:latin typeface="Times New Roman" panose="02020603050405020304" pitchFamily="18" charset="0"/>
                <a:cs typeface="Times New Roman" panose="02020603050405020304" pitchFamily="18" charset="0"/>
              </a:rPr>
              <a:t> Institute for Science and Technology</a:t>
            </a:r>
          </a:p>
        </p:txBody>
      </p:sp>
      <p:sp>
        <p:nvSpPr>
          <p:cNvPr id="28" name="TextBox 27">
            <a:extLst>
              <a:ext uri="{FF2B5EF4-FFF2-40B4-BE49-F238E27FC236}">
                <a16:creationId xmlns:a16="http://schemas.microsoft.com/office/drawing/2014/main" id="{195DFAA0-06FF-9A91-0EB9-9A103E1B1E76}"/>
              </a:ext>
            </a:extLst>
          </p:cNvPr>
          <p:cNvSpPr txBox="1"/>
          <p:nvPr/>
        </p:nvSpPr>
        <p:spPr>
          <a:xfrm>
            <a:off x="509448" y="5044147"/>
            <a:ext cx="3848857"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Computer Science and Engineering (Data Science), </a:t>
            </a:r>
            <a:r>
              <a:rPr lang="en-US" dirty="0" err="1">
                <a:latin typeface="Times New Roman" panose="02020603050405020304" pitchFamily="18" charset="0"/>
                <a:cs typeface="Times New Roman" panose="02020603050405020304" pitchFamily="18" charset="0"/>
              </a:rPr>
              <a:t>St.Thomas</a:t>
            </a:r>
            <a:r>
              <a:rPr lang="en-US" dirty="0">
                <a:latin typeface="Times New Roman" panose="02020603050405020304" pitchFamily="18" charset="0"/>
                <a:cs typeface="Times New Roman" panose="02020603050405020304" pitchFamily="18" charset="0"/>
              </a:rPr>
              <a:t> Institute for Science and Technology</a:t>
            </a:r>
          </a:p>
        </p:txBody>
      </p:sp>
      <p:sp>
        <p:nvSpPr>
          <p:cNvPr id="30" name="TextBox 29">
            <a:extLst>
              <a:ext uri="{FF2B5EF4-FFF2-40B4-BE49-F238E27FC236}">
                <a16:creationId xmlns:a16="http://schemas.microsoft.com/office/drawing/2014/main" id="{35E06361-E7E0-14E4-697A-E35714545907}"/>
              </a:ext>
            </a:extLst>
          </p:cNvPr>
          <p:cNvSpPr txBox="1"/>
          <p:nvPr/>
        </p:nvSpPr>
        <p:spPr>
          <a:xfrm>
            <a:off x="511209" y="5992709"/>
            <a:ext cx="502069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7/08/2028</a:t>
            </a:r>
          </a:p>
        </p:txBody>
      </p:sp>
    </p:spTree>
    <p:extLst>
      <p:ext uri="{BB962C8B-B14F-4D97-AF65-F5344CB8AC3E}">
        <p14:creationId xmlns:p14="http://schemas.microsoft.com/office/powerpoint/2010/main" val="1707696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pPr algn="just"/>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8816809" y="6870899"/>
            <a:ext cx="1108588" cy="416154"/>
            <a:chOff x="-78623" y="0"/>
            <a:chExt cx="1478117" cy="554872"/>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78623" y="16532"/>
              <a:ext cx="1399489" cy="538340"/>
            </a:xfrm>
            <a:prstGeom prst="rect">
              <a:avLst/>
            </a:prstGeom>
          </p:spPr>
          <p:txBody>
            <a:bodyPr lIns="0" tIns="0" rIns="0" bIns="0" rtlCol="0" anchor="ctr"/>
            <a:lstStyle/>
            <a:p>
              <a:pPr algn="just">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2</a:t>
              </a:r>
            </a:p>
          </p:txBody>
        </p:sp>
      </p:grpSp>
      <p:sp>
        <p:nvSpPr>
          <p:cNvPr id="15" name="TextBox 15"/>
          <p:cNvSpPr txBox="1"/>
          <p:nvPr/>
        </p:nvSpPr>
        <p:spPr>
          <a:xfrm>
            <a:off x="1644205" y="1399259"/>
            <a:ext cx="7850731" cy="276999"/>
          </a:xfrm>
          <a:prstGeom prst="rect">
            <a:avLst/>
          </a:prstGeom>
        </p:spPr>
        <p:txBody>
          <a:bodyPr lIns="0" tIns="0" rIns="0" bIns="0" rtlCol="0" anchor="t">
            <a:spAutoFit/>
          </a:bodyPr>
          <a:lstStyle/>
          <a:p>
            <a:pPr algn="just"/>
            <a:endParaRPr>
              <a:latin typeface="Times New Roman" panose="02020603050405020304" pitchFamily="18" charset="0"/>
              <a:cs typeface="Times New Roman" panose="02020603050405020304" pitchFamily="18" charset="0"/>
            </a:endParaRPr>
          </a:p>
        </p:txBody>
      </p:sp>
      <p:grpSp>
        <p:nvGrpSpPr>
          <p:cNvPr id="16" name="Group 16"/>
          <p:cNvGrpSpPr/>
          <p:nvPr/>
        </p:nvGrpSpPr>
        <p:grpSpPr>
          <a:xfrm>
            <a:off x="877824" y="6883298"/>
            <a:ext cx="1977819" cy="396611"/>
            <a:chOff x="0" y="-9525"/>
            <a:chExt cx="2637092" cy="528814"/>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just">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4" name="TextBox 11">
            <a:extLst>
              <a:ext uri="{FF2B5EF4-FFF2-40B4-BE49-F238E27FC236}">
                <a16:creationId xmlns:a16="http://schemas.microsoft.com/office/drawing/2014/main" id="{9CAB87C0-36D8-F0D8-E00F-68EFAC46E083}"/>
              </a:ext>
            </a:extLst>
          </p:cNvPr>
          <p:cNvSpPr txBox="1"/>
          <p:nvPr/>
        </p:nvSpPr>
        <p:spPr>
          <a:xfrm>
            <a:off x="877824" y="-302438"/>
            <a:ext cx="7733919" cy="1202644"/>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I</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NDEX</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aphicFrame>
        <p:nvGraphicFramePr>
          <p:cNvPr id="26" name="Table 15">
            <a:extLst>
              <a:ext uri="{FF2B5EF4-FFF2-40B4-BE49-F238E27FC236}">
                <a16:creationId xmlns:a16="http://schemas.microsoft.com/office/drawing/2014/main" id="{683153F1-EC5A-98A2-C885-BDE16C8DDDB2}"/>
              </a:ext>
            </a:extLst>
          </p:cNvPr>
          <p:cNvGraphicFramePr>
            <a:graphicFrameLocks noGrp="1"/>
          </p:cNvGraphicFramePr>
          <p:nvPr>
            <p:extLst>
              <p:ext uri="{D42A27DB-BD31-4B8C-83A1-F6EECF244321}">
                <p14:modId xmlns:p14="http://schemas.microsoft.com/office/powerpoint/2010/main" val="4288443789"/>
              </p:ext>
            </p:extLst>
          </p:nvPr>
        </p:nvGraphicFramePr>
        <p:xfrm>
          <a:off x="0" y="2294826"/>
          <a:ext cx="9753600" cy="4481722"/>
        </p:xfrm>
        <a:graphic>
          <a:graphicData uri="http://schemas.openxmlformats.org/drawingml/2006/table">
            <a:tbl>
              <a:tblPr firstRow="1">
                <a:tableStyleId>{93296810-A885-4BE3-A3E7-6D5BEEA58F35}</a:tableStyleId>
              </a:tblPr>
              <a:tblGrid>
                <a:gridCol w="1938013">
                  <a:extLst>
                    <a:ext uri="{9D8B030D-6E8A-4147-A177-3AD203B41FA5}">
                      <a16:colId xmlns:a16="http://schemas.microsoft.com/office/drawing/2014/main" val="20000"/>
                    </a:ext>
                  </a:extLst>
                </a:gridCol>
                <a:gridCol w="5634359">
                  <a:extLst>
                    <a:ext uri="{9D8B030D-6E8A-4147-A177-3AD203B41FA5}">
                      <a16:colId xmlns:a16="http://schemas.microsoft.com/office/drawing/2014/main" val="20001"/>
                    </a:ext>
                  </a:extLst>
                </a:gridCol>
                <a:gridCol w="2181228">
                  <a:extLst>
                    <a:ext uri="{9D8B030D-6E8A-4147-A177-3AD203B41FA5}">
                      <a16:colId xmlns:a16="http://schemas.microsoft.com/office/drawing/2014/main" val="20002"/>
                    </a:ext>
                  </a:extLst>
                </a:gridCol>
              </a:tblGrid>
              <a:tr h="640246">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S.NO.</a:t>
                      </a:r>
                      <a:endParaRPr lang="en-US" sz="1400" dirty="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CONTENT</a:t>
                      </a:r>
                      <a:endParaRPr lang="en-US" sz="1400" dirty="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SLIDE NO.</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0"/>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.6</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659"/>
                        </a:lnSpc>
                        <a:defRPr/>
                      </a:pPr>
                      <a:r>
                        <a:rPr lang="en-US" sz="1400" dirty="0">
                          <a:latin typeface="Times New Roman" panose="02020603050405020304" pitchFamily="18" charset="0"/>
                          <a:cs typeface="Times New Roman" panose="02020603050405020304" pitchFamily="18" charset="0"/>
                        </a:rPr>
                        <a:t>ABSTRACT</a:t>
                      </a:r>
                    </a:p>
                  </a:txBody>
                  <a:tcPr marT="91440" marB="91440" anchor="ctr"/>
                </a:tc>
                <a:tc>
                  <a:txBody>
                    <a:bodyPr/>
                    <a:lstStyle/>
                    <a:p>
                      <a:pPr algn="l">
                        <a:lnSpc>
                          <a:spcPts val="2239"/>
                        </a:lnSpc>
                        <a:defRPr/>
                      </a:pPr>
                      <a:r>
                        <a:rPr lang="en-IN" sz="1400">
                          <a:solidFill>
                            <a:srgbClr val="000000"/>
                          </a:solidFill>
                          <a:latin typeface="Times New Roman" panose="02020603050405020304" pitchFamily="18" charset="0"/>
                          <a:cs typeface="Times New Roman" panose="02020603050405020304" pitchFamily="18" charset="0"/>
                          <a:sym typeface="Arimo"/>
                        </a:rPr>
                        <a:t>9</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1"/>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.7</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INTRODUCTION</a:t>
                      </a:r>
                    </a:p>
                  </a:txBody>
                  <a:tcPr marT="91440" marB="91440" anchor="ctr"/>
                </a:tc>
                <a:tc>
                  <a:txBody>
                    <a:bodyPr/>
                    <a:lstStyle/>
                    <a:p>
                      <a:pPr algn="l">
                        <a:lnSpc>
                          <a:spcPts val="2239"/>
                        </a:lnSpc>
                        <a:defRPr/>
                      </a:pPr>
                      <a:r>
                        <a:rPr lang="en-IN" sz="1400">
                          <a:solidFill>
                            <a:srgbClr val="000000"/>
                          </a:solidFill>
                          <a:latin typeface="Times New Roman" panose="02020603050405020304" pitchFamily="18" charset="0"/>
                          <a:cs typeface="Times New Roman" panose="02020603050405020304" pitchFamily="18" charset="0"/>
                          <a:sym typeface="Arimo"/>
                        </a:rPr>
                        <a:t>10</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2"/>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.8</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LITERATURE REVIEW</a:t>
                      </a:r>
                    </a:p>
                  </a:txBody>
                  <a:tcPr marT="91440" marB="91440" anchor="ctr"/>
                </a:tc>
                <a:tc>
                  <a:txBody>
                    <a:bodyPr/>
                    <a:lstStyle/>
                    <a:p>
                      <a:pPr algn="l">
                        <a:lnSpc>
                          <a:spcPts val="2239"/>
                        </a:lnSpc>
                        <a:defRPr/>
                      </a:pPr>
                      <a:r>
                        <a:rPr lang="en-US" sz="1400">
                          <a:solidFill>
                            <a:srgbClr val="000000"/>
                          </a:solidFill>
                          <a:latin typeface="Times New Roman" panose="02020603050405020304" pitchFamily="18" charset="0"/>
                          <a:cs typeface="Times New Roman" panose="02020603050405020304" pitchFamily="18" charset="0"/>
                          <a:sym typeface="Arimo"/>
                        </a:rPr>
                        <a:t>1</a:t>
                      </a:r>
                      <a:r>
                        <a:rPr lang="en-IN" sz="1400">
                          <a:solidFill>
                            <a:srgbClr val="000000"/>
                          </a:solidFill>
                          <a:latin typeface="Times New Roman" panose="02020603050405020304" pitchFamily="18" charset="0"/>
                          <a:cs typeface="Times New Roman" panose="02020603050405020304" pitchFamily="18" charset="0"/>
                          <a:sym typeface="Arimo"/>
                        </a:rPr>
                        <a:t>1</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3"/>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.9</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ARCHITECTURE</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12</a:t>
                      </a:r>
                    </a:p>
                  </a:txBody>
                  <a:tcPr marT="91440" marB="91440" anchor="ctr"/>
                </a:tc>
                <a:extLst>
                  <a:ext uri="{0D108BD9-81ED-4DB2-BD59-A6C34878D82A}">
                    <a16:rowId xmlns:a16="http://schemas.microsoft.com/office/drawing/2014/main" val="10004"/>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.10</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METHODOLOGY</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13</a:t>
                      </a:r>
                    </a:p>
                  </a:txBody>
                  <a:tcPr marT="91440" marB="91440" anchor="ctr"/>
                </a:tc>
                <a:extLst>
                  <a:ext uri="{0D108BD9-81ED-4DB2-BD59-A6C34878D82A}">
                    <a16:rowId xmlns:a16="http://schemas.microsoft.com/office/drawing/2014/main" val="10005"/>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.11</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STATUS &amp; RESULT</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14</a:t>
                      </a:r>
                    </a:p>
                  </a:txBody>
                  <a:tcPr marT="91440" marB="91440" anchor="ctr"/>
                </a:tc>
                <a:extLst>
                  <a:ext uri="{0D108BD9-81ED-4DB2-BD59-A6C34878D82A}">
                    <a16:rowId xmlns:a16="http://schemas.microsoft.com/office/drawing/2014/main" val="1135741892"/>
                  </a:ext>
                </a:extLst>
              </a:tr>
            </a:tbl>
          </a:graphicData>
        </a:graphic>
      </p:graphicFrame>
    </p:spTree>
    <p:extLst>
      <p:ext uri="{BB962C8B-B14F-4D97-AF65-F5344CB8AC3E}">
        <p14:creationId xmlns:p14="http://schemas.microsoft.com/office/powerpoint/2010/main" val="376364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pPr algn="just"/>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8816809" y="6870899"/>
            <a:ext cx="1108588" cy="416154"/>
            <a:chOff x="-78623" y="0"/>
            <a:chExt cx="1478117" cy="554872"/>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78623" y="16532"/>
              <a:ext cx="1399489" cy="538340"/>
            </a:xfrm>
            <a:prstGeom prst="rect">
              <a:avLst/>
            </a:prstGeom>
          </p:spPr>
          <p:txBody>
            <a:bodyPr lIns="0" tIns="0" rIns="0" bIns="0" rtlCol="0" anchor="ctr"/>
            <a:lstStyle/>
            <a:p>
              <a:pPr algn="just">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3</a:t>
              </a:r>
            </a:p>
          </p:txBody>
        </p:sp>
      </p:grpSp>
      <p:sp>
        <p:nvSpPr>
          <p:cNvPr id="15" name="TextBox 15"/>
          <p:cNvSpPr txBox="1"/>
          <p:nvPr/>
        </p:nvSpPr>
        <p:spPr>
          <a:xfrm>
            <a:off x="1644205" y="1399259"/>
            <a:ext cx="7850731" cy="276999"/>
          </a:xfrm>
          <a:prstGeom prst="rect">
            <a:avLst/>
          </a:prstGeom>
        </p:spPr>
        <p:txBody>
          <a:bodyPr lIns="0" tIns="0" rIns="0" bIns="0" rtlCol="0" anchor="t">
            <a:spAutoFit/>
          </a:bodyPr>
          <a:lstStyle/>
          <a:p>
            <a:pPr algn="just"/>
            <a:endParaRPr>
              <a:latin typeface="Times New Roman" panose="02020603050405020304" pitchFamily="18" charset="0"/>
              <a:cs typeface="Times New Roman" panose="02020603050405020304" pitchFamily="18" charset="0"/>
            </a:endParaRPr>
          </a:p>
        </p:txBody>
      </p:sp>
      <p:grpSp>
        <p:nvGrpSpPr>
          <p:cNvPr id="16" name="Group 16"/>
          <p:cNvGrpSpPr/>
          <p:nvPr/>
        </p:nvGrpSpPr>
        <p:grpSpPr>
          <a:xfrm>
            <a:off x="877824" y="6883298"/>
            <a:ext cx="1977819" cy="396611"/>
            <a:chOff x="0" y="-9525"/>
            <a:chExt cx="2637092" cy="528814"/>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just">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4" name="TextBox 11">
            <a:extLst>
              <a:ext uri="{FF2B5EF4-FFF2-40B4-BE49-F238E27FC236}">
                <a16:creationId xmlns:a16="http://schemas.microsoft.com/office/drawing/2014/main" id="{9CAB87C0-36D8-F0D8-E00F-68EFAC46E083}"/>
              </a:ext>
            </a:extLst>
          </p:cNvPr>
          <p:cNvSpPr txBox="1"/>
          <p:nvPr/>
        </p:nvSpPr>
        <p:spPr>
          <a:xfrm>
            <a:off x="877824" y="-302438"/>
            <a:ext cx="7733919" cy="1202644"/>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I</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NDEX</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aphicFrame>
        <p:nvGraphicFramePr>
          <p:cNvPr id="26" name="Table 15">
            <a:extLst>
              <a:ext uri="{FF2B5EF4-FFF2-40B4-BE49-F238E27FC236}">
                <a16:creationId xmlns:a16="http://schemas.microsoft.com/office/drawing/2014/main" id="{683153F1-EC5A-98A2-C885-BDE16C8DDDB2}"/>
              </a:ext>
            </a:extLst>
          </p:cNvPr>
          <p:cNvGraphicFramePr>
            <a:graphicFrameLocks noGrp="1"/>
          </p:cNvGraphicFramePr>
          <p:nvPr>
            <p:extLst>
              <p:ext uri="{D42A27DB-BD31-4B8C-83A1-F6EECF244321}">
                <p14:modId xmlns:p14="http://schemas.microsoft.com/office/powerpoint/2010/main" val="3072948644"/>
              </p:ext>
            </p:extLst>
          </p:nvPr>
        </p:nvGraphicFramePr>
        <p:xfrm>
          <a:off x="0" y="2294826"/>
          <a:ext cx="9753600" cy="4481722"/>
        </p:xfrm>
        <a:graphic>
          <a:graphicData uri="http://schemas.openxmlformats.org/drawingml/2006/table">
            <a:tbl>
              <a:tblPr firstRow="1">
                <a:tableStyleId>{93296810-A885-4BE3-A3E7-6D5BEEA58F35}</a:tableStyleId>
              </a:tblPr>
              <a:tblGrid>
                <a:gridCol w="1938013">
                  <a:extLst>
                    <a:ext uri="{9D8B030D-6E8A-4147-A177-3AD203B41FA5}">
                      <a16:colId xmlns:a16="http://schemas.microsoft.com/office/drawing/2014/main" val="20000"/>
                    </a:ext>
                  </a:extLst>
                </a:gridCol>
                <a:gridCol w="5634359">
                  <a:extLst>
                    <a:ext uri="{9D8B030D-6E8A-4147-A177-3AD203B41FA5}">
                      <a16:colId xmlns:a16="http://schemas.microsoft.com/office/drawing/2014/main" val="20001"/>
                    </a:ext>
                  </a:extLst>
                </a:gridCol>
                <a:gridCol w="2181228">
                  <a:extLst>
                    <a:ext uri="{9D8B030D-6E8A-4147-A177-3AD203B41FA5}">
                      <a16:colId xmlns:a16="http://schemas.microsoft.com/office/drawing/2014/main" val="20002"/>
                    </a:ext>
                  </a:extLst>
                </a:gridCol>
              </a:tblGrid>
              <a:tr h="640246">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S.NO.</a:t>
                      </a:r>
                      <a:endParaRPr lang="en-US" sz="1400" dirty="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CONTENT</a:t>
                      </a:r>
                      <a:endParaRPr lang="en-US" sz="1400" dirty="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04"/>
                        </a:lnSpc>
                        <a:defRPr/>
                      </a:pPr>
                      <a:r>
                        <a:rPr lang="en-US" sz="1400" b="1" dirty="0">
                          <a:solidFill>
                            <a:srgbClr val="FFFFFF"/>
                          </a:solidFill>
                          <a:latin typeface="Times New Roman" panose="02020603050405020304" pitchFamily="18" charset="0"/>
                          <a:cs typeface="Times New Roman" panose="02020603050405020304" pitchFamily="18" charset="0"/>
                          <a:sym typeface="Times New Roman Bold"/>
                        </a:rPr>
                        <a:t>SLIDE NO.</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0"/>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.6</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659"/>
                        </a:lnSpc>
                        <a:defRPr/>
                      </a:pPr>
                      <a:r>
                        <a:rPr lang="en-US" sz="1400" dirty="0">
                          <a:latin typeface="Times New Roman" panose="02020603050405020304" pitchFamily="18" charset="0"/>
                          <a:cs typeface="Times New Roman" panose="02020603050405020304" pitchFamily="18" charset="0"/>
                        </a:rPr>
                        <a:t>USE CASE DIAGRAM</a:t>
                      </a:r>
                    </a:p>
                  </a:txBody>
                  <a:tcPr marT="91440" marB="91440" anchor="ctr"/>
                </a:tc>
                <a:tc>
                  <a:txBody>
                    <a:bodyPr/>
                    <a:lstStyle/>
                    <a:p>
                      <a:pPr algn="l">
                        <a:lnSpc>
                          <a:spcPts val="2239"/>
                        </a:lnSpc>
                        <a:defRPr/>
                      </a:pPr>
                      <a:r>
                        <a:rPr lang="en-IN" sz="1400">
                          <a:solidFill>
                            <a:srgbClr val="000000"/>
                          </a:solidFill>
                          <a:latin typeface="Times New Roman" panose="02020603050405020304" pitchFamily="18" charset="0"/>
                          <a:cs typeface="Times New Roman" panose="02020603050405020304" pitchFamily="18" charset="0"/>
                          <a:sym typeface="Arimo"/>
                        </a:rPr>
                        <a:t>9</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1"/>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.7</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SEQUENCE DIAGRAM</a:t>
                      </a:r>
                    </a:p>
                  </a:txBody>
                  <a:tcPr marT="91440" marB="91440" anchor="ctr"/>
                </a:tc>
                <a:tc>
                  <a:txBody>
                    <a:bodyPr/>
                    <a:lstStyle/>
                    <a:p>
                      <a:pPr algn="l">
                        <a:lnSpc>
                          <a:spcPts val="2239"/>
                        </a:lnSpc>
                        <a:defRPr/>
                      </a:pPr>
                      <a:r>
                        <a:rPr lang="en-IN" sz="1400">
                          <a:solidFill>
                            <a:srgbClr val="000000"/>
                          </a:solidFill>
                          <a:latin typeface="Times New Roman" panose="02020603050405020304" pitchFamily="18" charset="0"/>
                          <a:cs typeface="Times New Roman" panose="02020603050405020304" pitchFamily="18" charset="0"/>
                          <a:sym typeface="Arimo"/>
                        </a:rPr>
                        <a:t>10</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2"/>
                  </a:ext>
                </a:extLst>
              </a:tr>
              <a:tr h="640246">
                <a:tc>
                  <a:txBody>
                    <a:bodyPr/>
                    <a:lstStyle/>
                    <a:p>
                      <a:pPr algn="l">
                        <a:lnSpc>
                          <a:spcPts val="2380"/>
                        </a:lnSpc>
                        <a:defRPr/>
                      </a:pPr>
                      <a:r>
                        <a:rPr lang="en-US" sz="1400">
                          <a:solidFill>
                            <a:srgbClr val="000000"/>
                          </a:solidFill>
                          <a:latin typeface="Times New Roman" panose="02020603050405020304" pitchFamily="18" charset="0"/>
                          <a:cs typeface="Times New Roman" panose="02020603050405020304" pitchFamily="18" charset="0"/>
                          <a:sym typeface="Arimo"/>
                        </a:rPr>
                        <a:t>.8</a:t>
                      </a:r>
                      <a:endParaRPr lang="en-US" sz="140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380"/>
                        </a:lnSpc>
                        <a:defRPr/>
                      </a:pPr>
                      <a:r>
                        <a:rPr lang="en-US" sz="1400" dirty="0">
                          <a:solidFill>
                            <a:srgbClr val="000000"/>
                          </a:solidFill>
                          <a:latin typeface="Times New Roman" panose="02020603050405020304" pitchFamily="18" charset="0"/>
                          <a:cs typeface="Times New Roman" panose="02020603050405020304" pitchFamily="18" charset="0"/>
                          <a:sym typeface="Times New Roman"/>
                        </a:rPr>
                        <a:t>ROADMAP</a:t>
                      </a:r>
                      <a:endParaRPr lang="en-US" sz="1400" dirty="0">
                        <a:latin typeface="Times New Roman" panose="02020603050405020304" pitchFamily="18" charset="0"/>
                        <a:cs typeface="Times New Roman" panose="02020603050405020304" pitchFamily="18" charset="0"/>
                      </a:endParaRPr>
                    </a:p>
                  </a:txBody>
                  <a:tcPr marT="91440" marB="91440" anchor="ctr"/>
                </a:tc>
                <a:tc>
                  <a:txBody>
                    <a:bodyPr/>
                    <a:lstStyle/>
                    <a:p>
                      <a:pPr algn="l">
                        <a:lnSpc>
                          <a:spcPts val="2239"/>
                        </a:lnSpc>
                        <a:defRPr/>
                      </a:pPr>
                      <a:r>
                        <a:rPr lang="en-US" sz="1400">
                          <a:solidFill>
                            <a:srgbClr val="000000"/>
                          </a:solidFill>
                          <a:latin typeface="Times New Roman" panose="02020603050405020304" pitchFamily="18" charset="0"/>
                          <a:cs typeface="Times New Roman" panose="02020603050405020304" pitchFamily="18" charset="0"/>
                          <a:sym typeface="Arimo"/>
                        </a:rPr>
                        <a:t>1</a:t>
                      </a:r>
                      <a:r>
                        <a:rPr lang="en-IN" sz="1400">
                          <a:solidFill>
                            <a:srgbClr val="000000"/>
                          </a:solidFill>
                          <a:latin typeface="Times New Roman" panose="02020603050405020304" pitchFamily="18" charset="0"/>
                          <a:cs typeface="Times New Roman" panose="02020603050405020304" pitchFamily="18" charset="0"/>
                          <a:sym typeface="Arimo"/>
                        </a:rPr>
                        <a:t>1</a:t>
                      </a:r>
                      <a:endParaRPr lang="en-US" sz="1400" dirty="0">
                        <a:latin typeface="Times New Roman" panose="02020603050405020304" pitchFamily="18" charset="0"/>
                        <a:cs typeface="Times New Roman" panose="02020603050405020304" pitchFamily="18" charset="0"/>
                      </a:endParaRPr>
                    </a:p>
                  </a:txBody>
                  <a:tcPr marT="91440" marB="91440" anchor="ctr"/>
                </a:tc>
                <a:extLst>
                  <a:ext uri="{0D108BD9-81ED-4DB2-BD59-A6C34878D82A}">
                    <a16:rowId xmlns:a16="http://schemas.microsoft.com/office/drawing/2014/main" val="10003"/>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.9</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PROBLEM STATEMENT</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12</a:t>
                      </a:r>
                    </a:p>
                  </a:txBody>
                  <a:tcPr marT="91440" marB="91440" anchor="ctr"/>
                </a:tc>
                <a:extLst>
                  <a:ext uri="{0D108BD9-81ED-4DB2-BD59-A6C34878D82A}">
                    <a16:rowId xmlns:a16="http://schemas.microsoft.com/office/drawing/2014/main" val="10004"/>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.10</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CONCLUSION</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13</a:t>
                      </a:r>
                    </a:p>
                  </a:txBody>
                  <a:tcPr marT="91440" marB="91440" anchor="ctr"/>
                </a:tc>
                <a:extLst>
                  <a:ext uri="{0D108BD9-81ED-4DB2-BD59-A6C34878D82A}">
                    <a16:rowId xmlns:a16="http://schemas.microsoft.com/office/drawing/2014/main" val="10005"/>
                  </a:ext>
                </a:extLst>
              </a:tr>
              <a:tr h="640246">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.11</a:t>
                      </a:r>
                    </a:p>
                  </a:txBody>
                  <a:tcPr marT="91440" marB="91440" anchor="ctr"/>
                </a:tc>
                <a:tc>
                  <a:txBody>
                    <a:bodyPr/>
                    <a:lstStyle/>
                    <a:p>
                      <a:pPr algn="l">
                        <a:lnSpc>
                          <a:spcPts val="2380"/>
                        </a:lnSpc>
                        <a:defRPr/>
                      </a:pPr>
                      <a:r>
                        <a:rPr lang="en-US" sz="1400" dirty="0">
                          <a:latin typeface="Times New Roman" panose="02020603050405020304" pitchFamily="18" charset="0"/>
                          <a:cs typeface="Times New Roman" panose="02020603050405020304" pitchFamily="18" charset="0"/>
                        </a:rPr>
                        <a:t>REFERENCE</a:t>
                      </a:r>
                    </a:p>
                  </a:txBody>
                  <a:tcPr marT="91440" marB="91440" anchor="ctr"/>
                </a:tc>
                <a:tc>
                  <a:txBody>
                    <a:bodyPr/>
                    <a:lstStyle/>
                    <a:p>
                      <a:pPr algn="l">
                        <a:lnSpc>
                          <a:spcPts val="1679"/>
                        </a:lnSpc>
                        <a:defRPr/>
                      </a:pPr>
                      <a:r>
                        <a:rPr lang="en-US" sz="1400" dirty="0">
                          <a:latin typeface="Times New Roman" panose="02020603050405020304" pitchFamily="18" charset="0"/>
                          <a:cs typeface="Times New Roman" panose="02020603050405020304" pitchFamily="18" charset="0"/>
                        </a:rPr>
                        <a:t>14</a:t>
                      </a:r>
                    </a:p>
                  </a:txBody>
                  <a:tcPr marT="91440" marB="91440" anchor="ctr"/>
                </a:tc>
                <a:extLst>
                  <a:ext uri="{0D108BD9-81ED-4DB2-BD59-A6C34878D82A}">
                    <a16:rowId xmlns:a16="http://schemas.microsoft.com/office/drawing/2014/main" val="1135741892"/>
                  </a:ext>
                </a:extLst>
              </a:tr>
            </a:tbl>
          </a:graphicData>
        </a:graphic>
      </p:graphicFrame>
    </p:spTree>
    <p:extLst>
      <p:ext uri="{BB962C8B-B14F-4D97-AF65-F5344CB8AC3E}">
        <p14:creationId xmlns:p14="http://schemas.microsoft.com/office/powerpoint/2010/main" val="294218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txBody>
            <a:bodyPr/>
            <a:lstStyle/>
            <a:p>
              <a:endParaRPr lang="en-IN" dirty="0"/>
            </a:p>
          </p:txBody>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pPr algn="just"/>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3"/>
              <a:stretch>
                <a:fillRect b="-2"/>
              </a:stretch>
            </a:blipFill>
          </p:spPr>
        </p:sp>
      </p:grpSp>
      <p:grpSp>
        <p:nvGrpSpPr>
          <p:cNvPr id="9" name="Group 9"/>
          <p:cNvGrpSpPr/>
          <p:nvPr/>
        </p:nvGrpSpPr>
        <p:grpSpPr>
          <a:xfrm>
            <a:off x="1236069" y="35291"/>
            <a:ext cx="7733919" cy="1231219"/>
            <a:chOff x="0" y="0"/>
            <a:chExt cx="10311892" cy="1641626"/>
          </a:xfrm>
        </p:grpSpPr>
        <p:sp>
          <p:nvSpPr>
            <p:cNvPr id="10" name="Freeform 10"/>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4">
                <a:alphaModFix amt="0"/>
              </a:blip>
              <a:stretch>
                <a:fillRect t="-72395" b="-72395"/>
              </a:stretch>
            </a:blipFill>
          </p:spPr>
        </p:sp>
        <p:sp>
          <p:nvSpPr>
            <p:cNvPr id="11" name="TextBox 11"/>
            <p:cNvSpPr txBox="1"/>
            <p:nvPr/>
          </p:nvSpPr>
          <p:spPr>
            <a:xfrm>
              <a:off x="0" y="38100"/>
              <a:ext cx="10311892" cy="1603526"/>
            </a:xfrm>
            <a:prstGeom prst="rect">
              <a:avLst/>
            </a:prstGeom>
          </p:spPr>
          <p:txBody>
            <a:bodyPr lIns="0" tIns="0" rIns="0" bIns="0" rtlCol="0" anchor="b"/>
            <a:lstStyle/>
            <a:p>
              <a:pPr algn="just">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ABSTRACT</a:t>
              </a:r>
            </a:p>
          </p:txBody>
        </p:sp>
      </p:grpSp>
      <p:sp>
        <p:nvSpPr>
          <p:cNvPr id="12" name="TextBox 12"/>
          <p:cNvSpPr txBox="1"/>
          <p:nvPr/>
        </p:nvSpPr>
        <p:spPr>
          <a:xfrm>
            <a:off x="1236069" y="3873057"/>
            <a:ext cx="7816822" cy="276999"/>
          </a:xfrm>
          <a:prstGeom prst="rect">
            <a:avLst/>
          </a:prstGeom>
        </p:spPr>
        <p:txBody>
          <a:bodyPr wrap="square" lIns="0" tIns="0" rIns="0" bIns="0" rtlCol="0" anchor="ctr">
            <a:spAutoFit/>
          </a:bodyPr>
          <a:lstStyle/>
          <a:p>
            <a:pPr algn="just"/>
            <a:endParaRPr>
              <a:latin typeface="Times New Roman" panose="02020603050405020304" pitchFamily="18" charset="0"/>
              <a:cs typeface="Times New Roman" panose="02020603050405020304" pitchFamily="18" charset="0"/>
            </a:endParaRPr>
          </a:p>
        </p:txBody>
      </p:sp>
      <p:grpSp>
        <p:nvGrpSpPr>
          <p:cNvPr id="13" name="Group 13"/>
          <p:cNvGrpSpPr/>
          <p:nvPr/>
        </p:nvGrpSpPr>
        <p:grpSpPr>
          <a:xfrm>
            <a:off x="6674189" y="6868315"/>
            <a:ext cx="3251204" cy="403754"/>
            <a:chOff x="-1661575" y="-29503"/>
            <a:chExt cx="4334937" cy="538339"/>
          </a:xfrm>
        </p:grpSpPr>
        <p:sp>
          <p:nvSpPr>
            <p:cNvPr id="14" name="Freeform 14"/>
            <p:cNvSpPr/>
            <p:nvPr/>
          </p:nvSpPr>
          <p:spPr>
            <a:xfrm>
              <a:off x="-1661575" y="-10451"/>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4">
                <a:alphaModFix amt="0"/>
              </a:blip>
              <a:stretch>
                <a:fillRect t="-2512" b="-2512"/>
              </a:stretch>
            </a:blipFill>
          </p:spPr>
        </p:sp>
        <p:sp>
          <p:nvSpPr>
            <p:cNvPr id="15" name="TextBox 15"/>
            <p:cNvSpPr txBox="1"/>
            <p:nvPr/>
          </p:nvSpPr>
          <p:spPr>
            <a:xfrm>
              <a:off x="1273873" y="-29503"/>
              <a:ext cx="1399489" cy="538339"/>
            </a:xfrm>
            <a:prstGeom prst="rect">
              <a:avLst/>
            </a:prstGeom>
          </p:spPr>
          <p:txBody>
            <a:bodyPr lIns="0" tIns="0" rIns="0" bIns="0" rtlCol="0" anchor="ctr"/>
            <a:lstStyle/>
            <a:p>
              <a:pPr algn="just">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4</a:t>
              </a:r>
            </a:p>
          </p:txBody>
        </p:sp>
      </p:gr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4">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just">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4">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7" name="TextBox 26">
            <a:extLst>
              <a:ext uri="{FF2B5EF4-FFF2-40B4-BE49-F238E27FC236}">
                <a16:creationId xmlns:a16="http://schemas.microsoft.com/office/drawing/2014/main" id="{CE84C9D5-18BA-60C2-C8F8-23C32EDD7913}"/>
              </a:ext>
            </a:extLst>
          </p:cNvPr>
          <p:cNvSpPr txBox="1"/>
          <p:nvPr/>
        </p:nvSpPr>
        <p:spPr>
          <a:xfrm>
            <a:off x="245604" y="1866637"/>
            <a:ext cx="9203196"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Educational institutions consume substantial electricity across diverse facilities such as classrooms, laboratories, libraries, and student hostels, making efficient energy monitoring a key operational challenge. Traditional monitoring approaches often lack the capacity to process granular, continuous consumption data across multiple campus sectors. To address this, this project proposes a Campus Energy Consumption Analysis System leveraging Big Data processing technologies to collect, aggregate, and evaluate large-scale electricity usage data across various campus blocks.</a:t>
            </a:r>
          </a:p>
        </p:txBody>
      </p:sp>
      <p:sp>
        <p:nvSpPr>
          <p:cNvPr id="29" name="TextBox 28">
            <a:extLst>
              <a:ext uri="{FF2B5EF4-FFF2-40B4-BE49-F238E27FC236}">
                <a16:creationId xmlns:a16="http://schemas.microsoft.com/office/drawing/2014/main" id="{51A6C569-F86E-C601-7245-D76AA318BA02}"/>
              </a:ext>
            </a:extLst>
          </p:cNvPr>
          <p:cNvSpPr txBox="1"/>
          <p:nvPr/>
        </p:nvSpPr>
        <p:spPr>
          <a:xfrm>
            <a:off x="245604" y="4115674"/>
            <a:ext cx="9361264" cy="258532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system utilizes the Hadoop Distributed File System (HDFS) for scalable data storage and Apache Spark for high-speed batch processing and aggregation of consumption metrics. By evaluating high-frequency usage logs from smart meters and sub-metering points, the framework pinpoints high-consumption blocks, identifies daily and seasonal peak-usage intervals, and detects localized energy wastage patterns. Rather than focusing on predictive modeling, this project prioritizes comprehensive descriptive and diagnostic analysis. The processed insights are presented through an interactive analytics dashboard, empowering campus administrators and facility managers with clear, actionable visibility to optimize resource allocation, curb unnecessary power consumption, and promote sustainable energy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1298452" y="94646"/>
            <a:ext cx="7733919" cy="1231219"/>
            <a:chOff x="0" y="0"/>
            <a:chExt cx="10311892" cy="1641626"/>
          </a:xfrm>
        </p:grpSpPr>
        <p:sp>
          <p:nvSpPr>
            <p:cNvPr id="10" name="Freeform 10"/>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p:cNvSpPr txBox="1"/>
            <p:nvPr/>
          </p:nvSpPr>
          <p:spPr>
            <a:xfrm>
              <a:off x="0" y="38100"/>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I</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NTRODUCTION </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a:solidFill>
                    <a:srgbClr val="FFFFFF"/>
                  </a:solidFill>
                  <a:latin typeface="Times New Roman" panose="02020603050405020304" pitchFamily="18" charset="0"/>
                  <a:ea typeface="Times New Roman"/>
                  <a:cs typeface="Times New Roman" panose="02020603050405020304" pitchFamily="18" charset="0"/>
                  <a:sym typeface="Times New Roman"/>
                </a:rPr>
                <a:t>5</a:t>
              </a:r>
            </a:p>
          </p:txBody>
        </p:sp>
      </p:grpSp>
      <p:sp>
        <p:nvSpPr>
          <p:cNvPr id="15" name="TextBox 15"/>
          <p:cNvSpPr txBox="1"/>
          <p:nvPr/>
        </p:nvSpPr>
        <p:spPr>
          <a:xfrm>
            <a:off x="783612" y="2579148"/>
            <a:ext cx="8248759"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sp>
        <p:nvSpPr>
          <p:cNvPr id="25" name="TextBox 15">
            <a:extLst>
              <a:ext uri="{FF2B5EF4-FFF2-40B4-BE49-F238E27FC236}">
                <a16:creationId xmlns:a16="http://schemas.microsoft.com/office/drawing/2014/main" id="{2E11D73E-FB7C-FF5C-1A40-CA75C5FC7D67}"/>
              </a:ext>
            </a:extLst>
          </p:cNvPr>
          <p:cNvSpPr txBox="1"/>
          <p:nvPr/>
        </p:nvSpPr>
        <p:spPr>
          <a:xfrm>
            <a:off x="610115" y="2266856"/>
            <a:ext cx="8248759" cy="276999"/>
          </a:xfrm>
          <a:prstGeom prst="rect">
            <a:avLst/>
          </a:prstGeom>
        </p:spPr>
        <p:txBody>
          <a:bodyPr lIns="0" tIns="0" rIns="0" bIns="0" rtlCol="0" anchor="t">
            <a:spAutoFit/>
          </a:bodyPr>
          <a:lstStyle/>
          <a:p>
            <a:r>
              <a:rPr lang="en-US" dirty="0">
                <a:latin typeface="Times New Roman" panose="02020603050405020304" pitchFamily="18" charset="0"/>
                <a:cs typeface="Times New Roman" panose="02020603050405020304" pitchFamily="18" charset="0"/>
              </a:rPr>
              <a:t>• Educational institutions consume large amounts of electricity daily</a:t>
            </a:r>
            <a:endParaRPr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9A803FAB-6229-6F79-4F1E-766C65C513C0}"/>
              </a:ext>
            </a:extLst>
          </p:cNvPr>
          <p:cNvSpPr txBox="1"/>
          <p:nvPr/>
        </p:nvSpPr>
        <p:spPr>
          <a:xfrm>
            <a:off x="533303" y="2641956"/>
            <a:ext cx="824875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Monitoring energy usage manually is difficult and time consuming.</a:t>
            </a:r>
          </a:p>
        </p:txBody>
      </p:sp>
      <p:sp>
        <p:nvSpPr>
          <p:cNvPr id="29" name="TextBox 28">
            <a:extLst>
              <a:ext uri="{FF2B5EF4-FFF2-40B4-BE49-F238E27FC236}">
                <a16:creationId xmlns:a16="http://schemas.microsoft.com/office/drawing/2014/main" id="{B77F5191-BBFB-C19A-2098-1347108E7B40}"/>
              </a:ext>
            </a:extLst>
          </p:cNvPr>
          <p:cNvSpPr txBox="1"/>
          <p:nvPr/>
        </p:nvSpPr>
        <p:spPr>
          <a:xfrm>
            <a:off x="538165" y="3037545"/>
            <a:ext cx="901202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Big Data enables efficient collection and analysis of energy consumption data.</a:t>
            </a:r>
          </a:p>
        </p:txBody>
      </p:sp>
      <p:sp>
        <p:nvSpPr>
          <p:cNvPr id="31" name="TextBox 30">
            <a:extLst>
              <a:ext uri="{FF2B5EF4-FFF2-40B4-BE49-F238E27FC236}">
                <a16:creationId xmlns:a16="http://schemas.microsoft.com/office/drawing/2014/main" id="{1993A4C6-C677-9AFD-D60C-4EFE3EC0B660}"/>
              </a:ext>
            </a:extLst>
          </p:cNvPr>
          <p:cNvSpPr txBox="1"/>
          <p:nvPr/>
        </p:nvSpPr>
        <p:spPr>
          <a:xfrm>
            <a:off x="533303" y="3527211"/>
            <a:ext cx="914348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system identifies high-energy consumption areas and detects energy wastage.</a:t>
            </a:r>
          </a:p>
        </p:txBody>
      </p:sp>
      <p:grpSp>
        <p:nvGrpSpPr>
          <p:cNvPr id="35" name="Group 19">
            <a:extLst>
              <a:ext uri="{FF2B5EF4-FFF2-40B4-BE49-F238E27FC236}">
                <a16:creationId xmlns:a16="http://schemas.microsoft.com/office/drawing/2014/main" id="{1D725F57-0D51-D789-AA6B-D829F89F4995}"/>
              </a:ext>
            </a:extLst>
          </p:cNvPr>
          <p:cNvGrpSpPr/>
          <p:nvPr/>
        </p:nvGrpSpPr>
        <p:grpSpPr>
          <a:xfrm>
            <a:off x="3101350" y="7035698"/>
            <a:ext cx="3858245" cy="396610"/>
            <a:chOff x="0" y="-9525"/>
            <a:chExt cx="5144326" cy="528814"/>
          </a:xfrm>
        </p:grpSpPr>
        <p:sp>
          <p:nvSpPr>
            <p:cNvPr id="33" name="Freeform 20">
              <a:extLst>
                <a:ext uri="{FF2B5EF4-FFF2-40B4-BE49-F238E27FC236}">
                  <a16:creationId xmlns:a16="http://schemas.microsoft.com/office/drawing/2014/main" id="{732A287D-CC18-3806-FEBC-56C31D20D16F}"/>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34" name="TextBox 21">
              <a:extLst>
                <a:ext uri="{FF2B5EF4-FFF2-40B4-BE49-F238E27FC236}">
                  <a16:creationId xmlns:a16="http://schemas.microsoft.com/office/drawing/2014/main" id="{20EE0A6E-9305-A3F8-FD5C-0FBF5D98A522}"/>
                </a:ext>
              </a:extLst>
            </p:cNvPr>
            <p:cNvSpPr txBox="1"/>
            <p:nvPr/>
          </p:nvSpPr>
          <p:spPr>
            <a:xfrm>
              <a:off x="0" y="-9525"/>
              <a:ext cx="5144326" cy="528814"/>
            </a:xfrm>
            <a:prstGeom prst="rect">
              <a:avLst/>
            </a:prstGeom>
          </p:spPr>
          <p:txBody>
            <a:bodyPr lIns="0" tIns="0" rIns="0" bIns="0" rtlCol="0" anchor="ctr"/>
            <a:lstStyle/>
            <a:p>
              <a:pPr algn="ctr">
                <a:lnSpc>
                  <a:spcPts val="1152"/>
                </a:lnSpc>
              </a:pPr>
              <a:endPar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endParaRPr>
            </a:p>
          </p:txBody>
        </p:sp>
      </p:grpSp>
      <p:sp>
        <p:nvSpPr>
          <p:cNvPr id="37" name="TextBox 36">
            <a:extLst>
              <a:ext uri="{FF2B5EF4-FFF2-40B4-BE49-F238E27FC236}">
                <a16:creationId xmlns:a16="http://schemas.microsoft.com/office/drawing/2014/main" id="{3409682B-A8EE-186A-AEA6-29143C943FD9}"/>
              </a:ext>
            </a:extLst>
          </p:cNvPr>
          <p:cNvSpPr txBox="1"/>
          <p:nvPr/>
        </p:nvSpPr>
        <p:spPr>
          <a:xfrm>
            <a:off x="533303" y="4001261"/>
            <a:ext cx="852318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Interactive dashboards provide clear insights for decision-making.</a:t>
            </a:r>
          </a:p>
        </p:txBody>
      </p:sp>
      <p:sp>
        <p:nvSpPr>
          <p:cNvPr id="39" name="TextBox 38">
            <a:extLst>
              <a:ext uri="{FF2B5EF4-FFF2-40B4-BE49-F238E27FC236}">
                <a16:creationId xmlns:a16="http://schemas.microsoft.com/office/drawing/2014/main" id="{84AE1183-74C1-CB81-5473-05178FBC8803}"/>
              </a:ext>
            </a:extLst>
          </p:cNvPr>
          <p:cNvSpPr txBox="1"/>
          <p:nvPr/>
        </p:nvSpPr>
        <p:spPr>
          <a:xfrm>
            <a:off x="533303" y="4454808"/>
            <a:ext cx="914348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project helps optimize energy usage and promotes sustainable campus management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F4C8-7A9C-E74F-53A8-5B0440103B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4EFF6C-C035-5B7F-4DF9-DA22816310E3}"/>
              </a:ext>
            </a:extLst>
          </p:cNvPr>
          <p:cNvGrpSpPr/>
          <p:nvPr/>
        </p:nvGrpSpPr>
        <p:grpSpPr>
          <a:xfrm>
            <a:off x="0" y="6827520"/>
            <a:ext cx="9753600" cy="487680"/>
            <a:chOff x="0" y="0"/>
            <a:chExt cx="13004800" cy="650240"/>
          </a:xfrm>
        </p:grpSpPr>
        <p:sp>
          <p:nvSpPr>
            <p:cNvPr id="3" name="Freeform 3">
              <a:extLst>
                <a:ext uri="{FF2B5EF4-FFF2-40B4-BE49-F238E27FC236}">
                  <a16:creationId xmlns:a16="http://schemas.microsoft.com/office/drawing/2014/main" id="{7A28F6E9-0F6D-3B69-88EC-3EC3EA890E1D}"/>
                </a:ext>
              </a:extLst>
            </p:cNvPr>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a:extLst>
              <a:ext uri="{FF2B5EF4-FFF2-40B4-BE49-F238E27FC236}">
                <a16:creationId xmlns:a16="http://schemas.microsoft.com/office/drawing/2014/main" id="{1F8D0EE8-F7E9-0E01-D807-3AB718C95CF2}"/>
              </a:ext>
            </a:extLst>
          </p:cNvPr>
          <p:cNvGrpSpPr/>
          <p:nvPr/>
        </p:nvGrpSpPr>
        <p:grpSpPr>
          <a:xfrm>
            <a:off x="0" y="6756606"/>
            <a:ext cx="9753600" cy="70399"/>
            <a:chOff x="0" y="0"/>
            <a:chExt cx="13004800" cy="93866"/>
          </a:xfrm>
        </p:grpSpPr>
        <p:sp>
          <p:nvSpPr>
            <p:cNvPr id="5" name="Freeform 5">
              <a:extLst>
                <a:ext uri="{FF2B5EF4-FFF2-40B4-BE49-F238E27FC236}">
                  <a16:creationId xmlns:a16="http://schemas.microsoft.com/office/drawing/2014/main" id="{AA129C1C-4FA9-4EC3-DD51-28127FCE87B8}"/>
                </a:ext>
              </a:extLst>
            </p:cNvPr>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a:extLst>
              <a:ext uri="{FF2B5EF4-FFF2-40B4-BE49-F238E27FC236}">
                <a16:creationId xmlns:a16="http://schemas.microsoft.com/office/drawing/2014/main" id="{6B1874C4-87F3-9C15-F83F-BC260A296CAA}"/>
              </a:ext>
            </a:extLst>
          </p:cNvPr>
          <p:cNvSpPr/>
          <p:nvPr/>
        </p:nvSpPr>
        <p:spPr>
          <a:xfrm rot="2940">
            <a:off x="1298450" y="1038903"/>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a:extLst>
              <a:ext uri="{FF2B5EF4-FFF2-40B4-BE49-F238E27FC236}">
                <a16:creationId xmlns:a16="http://schemas.microsoft.com/office/drawing/2014/main" id="{221FB0E7-C9B8-2370-D85B-8138551D2A34}"/>
              </a:ext>
            </a:extLst>
          </p:cNvPr>
          <p:cNvGrpSpPr/>
          <p:nvPr/>
        </p:nvGrpSpPr>
        <p:grpSpPr>
          <a:xfrm>
            <a:off x="0" y="190109"/>
            <a:ext cx="1644186" cy="1547470"/>
            <a:chOff x="0" y="0"/>
            <a:chExt cx="2192249" cy="2063293"/>
          </a:xfrm>
        </p:grpSpPr>
        <p:sp>
          <p:nvSpPr>
            <p:cNvPr id="8" name="Freeform 8">
              <a:extLst>
                <a:ext uri="{FF2B5EF4-FFF2-40B4-BE49-F238E27FC236}">
                  <a16:creationId xmlns:a16="http://schemas.microsoft.com/office/drawing/2014/main" id="{558750CE-435D-B221-7F4F-9F2093F230B7}"/>
                </a:ext>
              </a:extLst>
            </p:cNvPr>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a:extLst>
              <a:ext uri="{FF2B5EF4-FFF2-40B4-BE49-F238E27FC236}">
                <a16:creationId xmlns:a16="http://schemas.microsoft.com/office/drawing/2014/main" id="{25A78DDF-1275-F71A-070E-0015E89AC1BE}"/>
              </a:ext>
            </a:extLst>
          </p:cNvPr>
          <p:cNvGrpSpPr/>
          <p:nvPr/>
        </p:nvGrpSpPr>
        <p:grpSpPr>
          <a:xfrm>
            <a:off x="1298452" y="-292832"/>
            <a:ext cx="7733919" cy="1231219"/>
            <a:chOff x="0" y="0"/>
            <a:chExt cx="10311892" cy="1641626"/>
          </a:xfrm>
        </p:grpSpPr>
        <p:sp>
          <p:nvSpPr>
            <p:cNvPr id="10" name="Freeform 10">
              <a:extLst>
                <a:ext uri="{FF2B5EF4-FFF2-40B4-BE49-F238E27FC236}">
                  <a16:creationId xmlns:a16="http://schemas.microsoft.com/office/drawing/2014/main" id="{14FD2D07-FEDC-057C-EE59-E64BD14E6C20}"/>
                </a:ext>
              </a:extLst>
            </p:cNvPr>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a:extLst>
                <a:ext uri="{FF2B5EF4-FFF2-40B4-BE49-F238E27FC236}">
                  <a16:creationId xmlns:a16="http://schemas.microsoft.com/office/drawing/2014/main" id="{57B3D01F-5D81-FA69-2FE3-122AC8D81CDE}"/>
                </a:ext>
              </a:extLst>
            </p:cNvPr>
            <p:cNvSpPr txBox="1"/>
            <p:nvPr/>
          </p:nvSpPr>
          <p:spPr>
            <a:xfrm>
              <a:off x="0" y="38100"/>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LITERATURE REVIEW</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grpSp>
        <p:nvGrpSpPr>
          <p:cNvPr id="12" name="Group 12">
            <a:extLst>
              <a:ext uri="{FF2B5EF4-FFF2-40B4-BE49-F238E27FC236}">
                <a16:creationId xmlns:a16="http://schemas.microsoft.com/office/drawing/2014/main" id="{D6D67283-93A7-692A-A375-1DC09C5CC812}"/>
              </a:ext>
            </a:extLst>
          </p:cNvPr>
          <p:cNvGrpSpPr/>
          <p:nvPr/>
        </p:nvGrpSpPr>
        <p:grpSpPr>
          <a:xfrm>
            <a:off x="7920371" y="6890442"/>
            <a:ext cx="1049617" cy="389467"/>
            <a:chOff x="0" y="0"/>
            <a:chExt cx="1399489" cy="519289"/>
          </a:xfrm>
        </p:grpSpPr>
        <p:sp>
          <p:nvSpPr>
            <p:cNvPr id="13" name="Freeform 13">
              <a:extLst>
                <a:ext uri="{FF2B5EF4-FFF2-40B4-BE49-F238E27FC236}">
                  <a16:creationId xmlns:a16="http://schemas.microsoft.com/office/drawing/2014/main" id="{66012B8B-5847-9929-172B-0183F7F770BB}"/>
                </a:ext>
              </a:extLst>
            </p:cNvPr>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a:extLst>
                <a:ext uri="{FF2B5EF4-FFF2-40B4-BE49-F238E27FC236}">
                  <a16:creationId xmlns:a16="http://schemas.microsoft.com/office/drawing/2014/main" id="{91509BF5-369B-51E5-064A-4FB496541BA3}"/>
                </a:ext>
              </a:extLst>
            </p:cNvPr>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6</a:t>
              </a:r>
            </a:p>
          </p:txBody>
        </p:sp>
      </p:grpSp>
      <p:sp>
        <p:nvSpPr>
          <p:cNvPr id="15" name="TextBox 15">
            <a:extLst>
              <a:ext uri="{FF2B5EF4-FFF2-40B4-BE49-F238E27FC236}">
                <a16:creationId xmlns:a16="http://schemas.microsoft.com/office/drawing/2014/main" id="{940C4085-42E4-E7E8-C098-AD3931A60D16}"/>
              </a:ext>
            </a:extLst>
          </p:cNvPr>
          <p:cNvSpPr txBox="1"/>
          <p:nvPr/>
        </p:nvSpPr>
        <p:spPr>
          <a:xfrm>
            <a:off x="783612" y="2579148"/>
            <a:ext cx="8248759"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grpSp>
        <p:nvGrpSpPr>
          <p:cNvPr id="16" name="Group 16">
            <a:extLst>
              <a:ext uri="{FF2B5EF4-FFF2-40B4-BE49-F238E27FC236}">
                <a16:creationId xmlns:a16="http://schemas.microsoft.com/office/drawing/2014/main" id="{D13B0122-E5AF-78A7-2454-0D49CBEF9F70}"/>
              </a:ext>
            </a:extLst>
          </p:cNvPr>
          <p:cNvGrpSpPr/>
          <p:nvPr/>
        </p:nvGrpSpPr>
        <p:grpSpPr>
          <a:xfrm>
            <a:off x="877824" y="6890442"/>
            <a:ext cx="1977819" cy="389467"/>
            <a:chOff x="0" y="0"/>
            <a:chExt cx="2637092" cy="519289"/>
          </a:xfrm>
        </p:grpSpPr>
        <p:sp>
          <p:nvSpPr>
            <p:cNvPr id="17" name="Freeform 17">
              <a:extLst>
                <a:ext uri="{FF2B5EF4-FFF2-40B4-BE49-F238E27FC236}">
                  <a16:creationId xmlns:a16="http://schemas.microsoft.com/office/drawing/2014/main" id="{68EB3820-AC1A-7DF2-6806-EAFB45890CDD}"/>
                </a:ext>
              </a:extLst>
            </p:cNvPr>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a:extLst>
                <a:ext uri="{FF2B5EF4-FFF2-40B4-BE49-F238E27FC236}">
                  <a16:creationId xmlns:a16="http://schemas.microsoft.com/office/drawing/2014/main" id="{EE7D3700-F70C-C4B1-21E8-52E2C6C2E88B}"/>
                </a:ext>
              </a:extLst>
            </p:cNvPr>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a:extLst>
              <a:ext uri="{FF2B5EF4-FFF2-40B4-BE49-F238E27FC236}">
                <a16:creationId xmlns:a16="http://schemas.microsoft.com/office/drawing/2014/main" id="{A777AB5D-6DA3-FE7F-E795-41FC4775687C}"/>
              </a:ext>
            </a:extLst>
          </p:cNvPr>
          <p:cNvGrpSpPr/>
          <p:nvPr/>
        </p:nvGrpSpPr>
        <p:grpSpPr>
          <a:xfrm>
            <a:off x="2948950" y="6890442"/>
            <a:ext cx="3858244" cy="389467"/>
            <a:chOff x="0" y="0"/>
            <a:chExt cx="5144326" cy="519289"/>
          </a:xfrm>
        </p:grpSpPr>
        <p:sp>
          <p:nvSpPr>
            <p:cNvPr id="20" name="Freeform 20">
              <a:extLst>
                <a:ext uri="{FF2B5EF4-FFF2-40B4-BE49-F238E27FC236}">
                  <a16:creationId xmlns:a16="http://schemas.microsoft.com/office/drawing/2014/main" id="{06F1D07E-0663-2D23-6FA1-9CF511D482D7}"/>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a:extLst>
                <a:ext uri="{FF2B5EF4-FFF2-40B4-BE49-F238E27FC236}">
                  <a16:creationId xmlns:a16="http://schemas.microsoft.com/office/drawing/2014/main" id="{52B54533-F60E-817C-A9E0-A92EA272F42D}"/>
                </a:ext>
              </a:extLst>
            </p:cNvPr>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sp>
        <p:nvSpPr>
          <p:cNvPr id="25" name="TextBox 15">
            <a:extLst>
              <a:ext uri="{FF2B5EF4-FFF2-40B4-BE49-F238E27FC236}">
                <a16:creationId xmlns:a16="http://schemas.microsoft.com/office/drawing/2014/main" id="{07F613E0-D953-245C-6F1C-8C090A33BE95}"/>
              </a:ext>
            </a:extLst>
          </p:cNvPr>
          <p:cNvSpPr txBox="1"/>
          <p:nvPr/>
        </p:nvSpPr>
        <p:spPr>
          <a:xfrm>
            <a:off x="610115" y="2266856"/>
            <a:ext cx="8248759" cy="276999"/>
          </a:xfrm>
          <a:prstGeom prst="rect">
            <a:avLst/>
          </a:prstGeom>
        </p:spPr>
        <p:txBody>
          <a:bodyPr lIns="0" tIns="0" rIns="0" bIns="0" rtlCol="0" anchor="t">
            <a:spAutoFit/>
          </a:bodyPr>
          <a:lstStyle/>
          <a:p>
            <a:r>
              <a:rPr lang="en-US" dirty="0">
                <a:latin typeface="Times New Roman" panose="02020603050405020304" pitchFamily="18" charset="0"/>
                <a:cs typeface="Times New Roman" panose="02020603050405020304" pitchFamily="18" charset="0"/>
              </a:rPr>
              <a:t>• Educational institutions consume large amounts of electricity daily</a:t>
            </a:r>
            <a:endParaRPr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FFFBAA6-0F24-00A9-CE47-B82910A3C1DD}"/>
              </a:ext>
            </a:extLst>
          </p:cNvPr>
          <p:cNvSpPr txBox="1"/>
          <p:nvPr/>
        </p:nvSpPr>
        <p:spPr>
          <a:xfrm>
            <a:off x="533303" y="2641956"/>
            <a:ext cx="824875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Monitoring energy usage manually is difficult and time consuming.</a:t>
            </a:r>
          </a:p>
        </p:txBody>
      </p:sp>
      <p:sp>
        <p:nvSpPr>
          <p:cNvPr id="29" name="TextBox 28">
            <a:extLst>
              <a:ext uri="{FF2B5EF4-FFF2-40B4-BE49-F238E27FC236}">
                <a16:creationId xmlns:a16="http://schemas.microsoft.com/office/drawing/2014/main" id="{962BD0FE-B0B6-BFC0-79E4-9263FEB3EF6C}"/>
              </a:ext>
            </a:extLst>
          </p:cNvPr>
          <p:cNvSpPr txBox="1"/>
          <p:nvPr/>
        </p:nvSpPr>
        <p:spPr>
          <a:xfrm>
            <a:off x="538165" y="3037545"/>
            <a:ext cx="901202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Big Data enables efficient collection and analysis of energy consumption data.</a:t>
            </a:r>
          </a:p>
        </p:txBody>
      </p:sp>
      <p:sp>
        <p:nvSpPr>
          <p:cNvPr id="31" name="TextBox 30">
            <a:extLst>
              <a:ext uri="{FF2B5EF4-FFF2-40B4-BE49-F238E27FC236}">
                <a16:creationId xmlns:a16="http://schemas.microsoft.com/office/drawing/2014/main" id="{6B41125E-D26D-2143-A02C-7E0B3127C57D}"/>
              </a:ext>
            </a:extLst>
          </p:cNvPr>
          <p:cNvSpPr txBox="1"/>
          <p:nvPr/>
        </p:nvSpPr>
        <p:spPr>
          <a:xfrm>
            <a:off x="533303" y="3527211"/>
            <a:ext cx="914348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system identifies high-energy consumption areas and detects energy wastage.</a:t>
            </a:r>
          </a:p>
        </p:txBody>
      </p:sp>
      <p:sp>
        <p:nvSpPr>
          <p:cNvPr id="34" name="TextBox 21">
            <a:extLst>
              <a:ext uri="{FF2B5EF4-FFF2-40B4-BE49-F238E27FC236}">
                <a16:creationId xmlns:a16="http://schemas.microsoft.com/office/drawing/2014/main" id="{932C1153-F90E-489D-998B-2180E6F02436}"/>
              </a:ext>
            </a:extLst>
          </p:cNvPr>
          <p:cNvSpPr txBox="1"/>
          <p:nvPr/>
        </p:nvSpPr>
        <p:spPr>
          <a:xfrm>
            <a:off x="3101350" y="7035698"/>
            <a:ext cx="3858245" cy="396610"/>
          </a:xfrm>
          <a:prstGeom prst="rect">
            <a:avLst/>
          </a:prstGeom>
        </p:spPr>
        <p:txBody>
          <a:bodyPr lIns="0" tIns="0" rIns="0" bIns="0" rtlCol="0" anchor="ctr"/>
          <a:lstStyle/>
          <a:p>
            <a:pPr algn="ctr">
              <a:lnSpc>
                <a:spcPts val="1152"/>
              </a:lnSpc>
            </a:pPr>
            <a:endPar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endParaRPr>
          </a:p>
        </p:txBody>
      </p:sp>
      <p:sp>
        <p:nvSpPr>
          <p:cNvPr id="37" name="TextBox 36">
            <a:extLst>
              <a:ext uri="{FF2B5EF4-FFF2-40B4-BE49-F238E27FC236}">
                <a16:creationId xmlns:a16="http://schemas.microsoft.com/office/drawing/2014/main" id="{83066F9D-47B3-D736-E6A0-5148E18300D7}"/>
              </a:ext>
            </a:extLst>
          </p:cNvPr>
          <p:cNvSpPr txBox="1"/>
          <p:nvPr/>
        </p:nvSpPr>
        <p:spPr>
          <a:xfrm>
            <a:off x="533303" y="4001261"/>
            <a:ext cx="852318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Interactive dashboards provide clear insights for decision-making.</a:t>
            </a:r>
          </a:p>
        </p:txBody>
      </p:sp>
      <p:sp>
        <p:nvSpPr>
          <p:cNvPr id="39" name="TextBox 38">
            <a:extLst>
              <a:ext uri="{FF2B5EF4-FFF2-40B4-BE49-F238E27FC236}">
                <a16:creationId xmlns:a16="http://schemas.microsoft.com/office/drawing/2014/main" id="{5E084219-D375-4BB5-B0A4-ABF87C8A038F}"/>
              </a:ext>
            </a:extLst>
          </p:cNvPr>
          <p:cNvSpPr txBox="1"/>
          <p:nvPr/>
        </p:nvSpPr>
        <p:spPr>
          <a:xfrm>
            <a:off x="533303" y="4454808"/>
            <a:ext cx="914348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project helps optimize energy usage and promotes sustainable campus management</a:t>
            </a:r>
          </a:p>
        </p:txBody>
      </p:sp>
      <p:graphicFrame>
        <p:nvGraphicFramePr>
          <p:cNvPr id="22" name="Table 21">
            <a:extLst>
              <a:ext uri="{FF2B5EF4-FFF2-40B4-BE49-F238E27FC236}">
                <a16:creationId xmlns:a16="http://schemas.microsoft.com/office/drawing/2014/main" id="{A3628F2F-F4B4-3BDA-8BAB-5C3DFE23DED0}"/>
              </a:ext>
            </a:extLst>
          </p:cNvPr>
          <p:cNvGraphicFramePr>
            <a:graphicFrameLocks noGrp="1"/>
          </p:cNvGraphicFramePr>
          <p:nvPr>
            <p:extLst>
              <p:ext uri="{D42A27DB-BD31-4B8C-83A1-F6EECF244321}">
                <p14:modId xmlns:p14="http://schemas.microsoft.com/office/powerpoint/2010/main" val="3909336027"/>
              </p:ext>
            </p:extLst>
          </p:nvPr>
        </p:nvGraphicFramePr>
        <p:xfrm>
          <a:off x="-2195" y="1737541"/>
          <a:ext cx="9753601" cy="5018540"/>
        </p:xfrm>
        <a:graphic>
          <a:graphicData uri="http://schemas.openxmlformats.org/drawingml/2006/table">
            <a:tbl>
              <a:tblPr firstRow="1" bandRow="1">
                <a:tableStyleId>{93296810-A885-4BE3-A3E7-6D5BEEA58F35}</a:tableStyleId>
              </a:tblPr>
              <a:tblGrid>
                <a:gridCol w="865384">
                  <a:extLst>
                    <a:ext uri="{9D8B030D-6E8A-4147-A177-3AD203B41FA5}">
                      <a16:colId xmlns:a16="http://schemas.microsoft.com/office/drawing/2014/main" val="768381251"/>
                    </a:ext>
                  </a:extLst>
                </a:gridCol>
                <a:gridCol w="1632830">
                  <a:extLst>
                    <a:ext uri="{9D8B030D-6E8A-4147-A177-3AD203B41FA5}">
                      <a16:colId xmlns:a16="http://schemas.microsoft.com/office/drawing/2014/main" val="2628288938"/>
                    </a:ext>
                  </a:extLst>
                </a:gridCol>
                <a:gridCol w="1478365">
                  <a:extLst>
                    <a:ext uri="{9D8B030D-6E8A-4147-A177-3AD203B41FA5}">
                      <a16:colId xmlns:a16="http://schemas.microsoft.com/office/drawing/2014/main" val="1757783597"/>
                    </a:ext>
                  </a:extLst>
                </a:gridCol>
                <a:gridCol w="2016789">
                  <a:extLst>
                    <a:ext uri="{9D8B030D-6E8A-4147-A177-3AD203B41FA5}">
                      <a16:colId xmlns:a16="http://schemas.microsoft.com/office/drawing/2014/main" val="1591189252"/>
                    </a:ext>
                  </a:extLst>
                </a:gridCol>
                <a:gridCol w="1632830">
                  <a:extLst>
                    <a:ext uri="{9D8B030D-6E8A-4147-A177-3AD203B41FA5}">
                      <a16:colId xmlns:a16="http://schemas.microsoft.com/office/drawing/2014/main" val="3614079311"/>
                    </a:ext>
                  </a:extLst>
                </a:gridCol>
                <a:gridCol w="2127403">
                  <a:extLst>
                    <a:ext uri="{9D8B030D-6E8A-4147-A177-3AD203B41FA5}">
                      <a16:colId xmlns:a16="http://schemas.microsoft.com/office/drawing/2014/main" val="2346948399"/>
                    </a:ext>
                  </a:extLst>
                </a:gridCol>
              </a:tblGrid>
              <a:tr h="468397">
                <a:tc>
                  <a:txBody>
                    <a:bodyPr/>
                    <a:lstStyle/>
                    <a:p>
                      <a:r>
                        <a:rPr lang="en-US" sz="1400" dirty="0">
                          <a:solidFill>
                            <a:schemeClr val="tx1">
                              <a:lumMod val="85000"/>
                              <a:lumOff val="15000"/>
                            </a:schemeClr>
                          </a:solidFill>
                        </a:rPr>
                        <a:t>YEAR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rPr>
                        <a:t>PAPER NAME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rPr>
                        <a:t>AUTHOR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rPr>
                        <a:t>OVERVIEW</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rPr>
                        <a:t>ADVANTAGES</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400" dirty="0">
                          <a:solidFill>
                            <a:schemeClr val="tx1">
                              <a:lumMod val="85000"/>
                              <a:lumOff val="15000"/>
                            </a:schemeClr>
                          </a:solidFill>
                        </a:rPr>
                        <a:t>DISADVANTAGES</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1429617"/>
                  </a:ext>
                </a:extLst>
              </a:tr>
              <a:tr h="2475813">
                <a:tc>
                  <a:txBody>
                    <a:bodyPr/>
                    <a:lstStyle/>
                    <a:p>
                      <a:r>
                        <a:rPr lang="en-US" sz="1400" dirty="0"/>
                        <a:t>2020</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t>Big Data Analytics for Smart Energy Management: A Review</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M. A. Khan </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t>Reviews the application of Big Data technologies such as Hadoop and Spark in energy management systems. Discusses storage, processing, and visualization of large-scale energy consumption data.</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Provides scalable storage and distributed processing for large datasets. Supports real-time and batch analytics.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Mainly focuses on general smart grids rather than campus-level electricity consumption.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7724808"/>
                  </a:ext>
                </a:extLst>
              </a:tr>
              <a:tr h="2074330">
                <a:tc>
                  <a:txBody>
                    <a:bodyPr/>
                    <a:lstStyle/>
                    <a:p>
                      <a:r>
                        <a:rPr lang="en-US" sz="1400" dirty="0"/>
                        <a:t>2021</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t>Load Shifting and Peak Clipping for Reducing Energy Consumption in an Indian University Campus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 S. Pillai </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err="1"/>
                        <a:t>Analyzes</a:t>
                      </a:r>
                      <a:r>
                        <a:rPr lang="en-IN" sz="1400" dirty="0"/>
                        <a:t> electricity usage in a university campus and identifies peak demand periods to improve energy efficiency through demand-side management.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Demonstrates campus energy optimization and peak load analysis. Useful for identifying high energy consumption periods.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Does not use Big Data frameworks like Hadoop or Spark and lacks dashboard visualization.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242518"/>
                  </a:ext>
                </a:extLst>
              </a:tr>
            </a:tbl>
          </a:graphicData>
        </a:graphic>
      </p:graphicFrame>
    </p:spTree>
    <p:extLst>
      <p:ext uri="{BB962C8B-B14F-4D97-AF65-F5344CB8AC3E}">
        <p14:creationId xmlns:p14="http://schemas.microsoft.com/office/powerpoint/2010/main" val="282597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04197-1513-4B26-22A1-E23D5EE0F57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E8948F-A19C-48B2-48D7-7B07035A6491}"/>
              </a:ext>
            </a:extLst>
          </p:cNvPr>
          <p:cNvGrpSpPr/>
          <p:nvPr/>
        </p:nvGrpSpPr>
        <p:grpSpPr>
          <a:xfrm>
            <a:off x="0" y="6827520"/>
            <a:ext cx="9753600" cy="487680"/>
            <a:chOff x="0" y="0"/>
            <a:chExt cx="13004800" cy="650240"/>
          </a:xfrm>
        </p:grpSpPr>
        <p:sp>
          <p:nvSpPr>
            <p:cNvPr id="3" name="Freeform 3">
              <a:extLst>
                <a:ext uri="{FF2B5EF4-FFF2-40B4-BE49-F238E27FC236}">
                  <a16:creationId xmlns:a16="http://schemas.microsoft.com/office/drawing/2014/main" id="{1EC6D5B4-3F28-FDB0-1BDD-7910B9790D28}"/>
                </a:ext>
              </a:extLst>
            </p:cNvPr>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a:extLst>
              <a:ext uri="{FF2B5EF4-FFF2-40B4-BE49-F238E27FC236}">
                <a16:creationId xmlns:a16="http://schemas.microsoft.com/office/drawing/2014/main" id="{CC8D0DAF-7F07-8825-FD22-6C23CE2CE105}"/>
              </a:ext>
            </a:extLst>
          </p:cNvPr>
          <p:cNvGrpSpPr/>
          <p:nvPr/>
        </p:nvGrpSpPr>
        <p:grpSpPr>
          <a:xfrm>
            <a:off x="0" y="6756606"/>
            <a:ext cx="9753600" cy="70399"/>
            <a:chOff x="0" y="0"/>
            <a:chExt cx="13004800" cy="93866"/>
          </a:xfrm>
        </p:grpSpPr>
        <p:sp>
          <p:nvSpPr>
            <p:cNvPr id="5" name="Freeform 5">
              <a:extLst>
                <a:ext uri="{FF2B5EF4-FFF2-40B4-BE49-F238E27FC236}">
                  <a16:creationId xmlns:a16="http://schemas.microsoft.com/office/drawing/2014/main" id="{A46D6598-A68E-A480-FBAF-AE9D6AB28A04}"/>
                </a:ext>
              </a:extLst>
            </p:cNvPr>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a:extLst>
              <a:ext uri="{FF2B5EF4-FFF2-40B4-BE49-F238E27FC236}">
                <a16:creationId xmlns:a16="http://schemas.microsoft.com/office/drawing/2014/main" id="{7E3C5B88-295F-539B-1AEC-AE7967C3E34C}"/>
              </a:ext>
            </a:extLst>
          </p:cNvPr>
          <p:cNvSpPr/>
          <p:nvPr/>
        </p:nvSpPr>
        <p:spPr>
          <a:xfrm rot="2940">
            <a:off x="1114874" y="1177712"/>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a:extLst>
              <a:ext uri="{FF2B5EF4-FFF2-40B4-BE49-F238E27FC236}">
                <a16:creationId xmlns:a16="http://schemas.microsoft.com/office/drawing/2014/main" id="{58DA1092-7776-F391-3FC3-007819DC019F}"/>
              </a:ext>
            </a:extLst>
          </p:cNvPr>
          <p:cNvGrpSpPr/>
          <p:nvPr/>
        </p:nvGrpSpPr>
        <p:grpSpPr>
          <a:xfrm>
            <a:off x="0" y="190109"/>
            <a:ext cx="1644186" cy="1547470"/>
            <a:chOff x="0" y="0"/>
            <a:chExt cx="2192249" cy="2063293"/>
          </a:xfrm>
        </p:grpSpPr>
        <p:sp>
          <p:nvSpPr>
            <p:cNvPr id="8" name="Freeform 8">
              <a:extLst>
                <a:ext uri="{FF2B5EF4-FFF2-40B4-BE49-F238E27FC236}">
                  <a16:creationId xmlns:a16="http://schemas.microsoft.com/office/drawing/2014/main" id="{D4DB522D-889B-FD86-68C7-8D8C663152BB}"/>
                </a:ext>
              </a:extLst>
            </p:cNvPr>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a:extLst>
              <a:ext uri="{FF2B5EF4-FFF2-40B4-BE49-F238E27FC236}">
                <a16:creationId xmlns:a16="http://schemas.microsoft.com/office/drawing/2014/main" id="{26DBC032-9D8C-7129-3158-392FE4AE19B2}"/>
              </a:ext>
            </a:extLst>
          </p:cNvPr>
          <p:cNvGrpSpPr/>
          <p:nvPr/>
        </p:nvGrpSpPr>
        <p:grpSpPr>
          <a:xfrm>
            <a:off x="1311899" y="-325814"/>
            <a:ext cx="7733919" cy="1231219"/>
            <a:chOff x="0" y="0"/>
            <a:chExt cx="10311892" cy="1641626"/>
          </a:xfrm>
        </p:grpSpPr>
        <p:sp>
          <p:nvSpPr>
            <p:cNvPr id="10" name="Freeform 10">
              <a:extLst>
                <a:ext uri="{FF2B5EF4-FFF2-40B4-BE49-F238E27FC236}">
                  <a16:creationId xmlns:a16="http://schemas.microsoft.com/office/drawing/2014/main" id="{2CB24565-DB10-6F6E-7181-0E6C4ABD5E37}"/>
                </a:ext>
              </a:extLst>
            </p:cNvPr>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a:extLst>
                <a:ext uri="{FF2B5EF4-FFF2-40B4-BE49-F238E27FC236}">
                  <a16:creationId xmlns:a16="http://schemas.microsoft.com/office/drawing/2014/main" id="{552BFF30-9CDB-749B-F262-2AFECBCD0DFF}"/>
                </a:ext>
              </a:extLst>
            </p:cNvPr>
            <p:cNvSpPr txBox="1"/>
            <p:nvPr/>
          </p:nvSpPr>
          <p:spPr>
            <a:xfrm>
              <a:off x="0" y="38100"/>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LITERATURE REVIEW</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grpSp>
        <p:nvGrpSpPr>
          <p:cNvPr id="12" name="Group 12">
            <a:extLst>
              <a:ext uri="{FF2B5EF4-FFF2-40B4-BE49-F238E27FC236}">
                <a16:creationId xmlns:a16="http://schemas.microsoft.com/office/drawing/2014/main" id="{9D6FD58F-2A7B-8C6D-7F5D-430F2F30B0BF}"/>
              </a:ext>
            </a:extLst>
          </p:cNvPr>
          <p:cNvGrpSpPr/>
          <p:nvPr/>
        </p:nvGrpSpPr>
        <p:grpSpPr>
          <a:xfrm>
            <a:off x="7920371" y="6890442"/>
            <a:ext cx="1049617" cy="389467"/>
            <a:chOff x="0" y="0"/>
            <a:chExt cx="1399489" cy="519289"/>
          </a:xfrm>
        </p:grpSpPr>
        <p:sp>
          <p:nvSpPr>
            <p:cNvPr id="13" name="Freeform 13">
              <a:extLst>
                <a:ext uri="{FF2B5EF4-FFF2-40B4-BE49-F238E27FC236}">
                  <a16:creationId xmlns:a16="http://schemas.microsoft.com/office/drawing/2014/main" id="{5C768402-728E-D9B4-EB7A-85849000F869}"/>
                </a:ext>
              </a:extLst>
            </p:cNvPr>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a:extLst>
                <a:ext uri="{FF2B5EF4-FFF2-40B4-BE49-F238E27FC236}">
                  <a16:creationId xmlns:a16="http://schemas.microsoft.com/office/drawing/2014/main" id="{3B52A36E-5C5D-01E5-B653-C76BB10F089D}"/>
                </a:ext>
              </a:extLst>
            </p:cNvPr>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7</a:t>
              </a:r>
            </a:p>
          </p:txBody>
        </p:sp>
      </p:grpSp>
      <p:sp>
        <p:nvSpPr>
          <p:cNvPr id="15" name="TextBox 15">
            <a:extLst>
              <a:ext uri="{FF2B5EF4-FFF2-40B4-BE49-F238E27FC236}">
                <a16:creationId xmlns:a16="http://schemas.microsoft.com/office/drawing/2014/main" id="{5A498AC9-B549-B745-B316-8ACF1041E182}"/>
              </a:ext>
            </a:extLst>
          </p:cNvPr>
          <p:cNvSpPr txBox="1"/>
          <p:nvPr/>
        </p:nvSpPr>
        <p:spPr>
          <a:xfrm>
            <a:off x="783612" y="2579148"/>
            <a:ext cx="8248759"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grpSp>
        <p:nvGrpSpPr>
          <p:cNvPr id="16" name="Group 16">
            <a:extLst>
              <a:ext uri="{FF2B5EF4-FFF2-40B4-BE49-F238E27FC236}">
                <a16:creationId xmlns:a16="http://schemas.microsoft.com/office/drawing/2014/main" id="{BE332306-8762-0C60-5D30-2FB7578ECF60}"/>
              </a:ext>
            </a:extLst>
          </p:cNvPr>
          <p:cNvGrpSpPr/>
          <p:nvPr/>
        </p:nvGrpSpPr>
        <p:grpSpPr>
          <a:xfrm>
            <a:off x="877824" y="6890442"/>
            <a:ext cx="1977819" cy="389467"/>
            <a:chOff x="0" y="0"/>
            <a:chExt cx="2637092" cy="519289"/>
          </a:xfrm>
        </p:grpSpPr>
        <p:sp>
          <p:nvSpPr>
            <p:cNvPr id="17" name="Freeform 17">
              <a:extLst>
                <a:ext uri="{FF2B5EF4-FFF2-40B4-BE49-F238E27FC236}">
                  <a16:creationId xmlns:a16="http://schemas.microsoft.com/office/drawing/2014/main" id="{FB948299-B444-31DF-5D78-FEAB2737423E}"/>
                </a:ext>
              </a:extLst>
            </p:cNvPr>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a:extLst>
                <a:ext uri="{FF2B5EF4-FFF2-40B4-BE49-F238E27FC236}">
                  <a16:creationId xmlns:a16="http://schemas.microsoft.com/office/drawing/2014/main" id="{A918E25A-A075-21E4-80AB-A3662E24438F}"/>
                </a:ext>
              </a:extLst>
            </p:cNvPr>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a:extLst>
              <a:ext uri="{FF2B5EF4-FFF2-40B4-BE49-F238E27FC236}">
                <a16:creationId xmlns:a16="http://schemas.microsoft.com/office/drawing/2014/main" id="{3B1F8EB9-94C4-23EE-C2DE-769A607BD172}"/>
              </a:ext>
            </a:extLst>
          </p:cNvPr>
          <p:cNvGrpSpPr/>
          <p:nvPr/>
        </p:nvGrpSpPr>
        <p:grpSpPr>
          <a:xfrm>
            <a:off x="2948950" y="6890442"/>
            <a:ext cx="3858244" cy="389467"/>
            <a:chOff x="0" y="0"/>
            <a:chExt cx="5144326" cy="519289"/>
          </a:xfrm>
        </p:grpSpPr>
        <p:sp>
          <p:nvSpPr>
            <p:cNvPr id="20" name="Freeform 20">
              <a:extLst>
                <a:ext uri="{FF2B5EF4-FFF2-40B4-BE49-F238E27FC236}">
                  <a16:creationId xmlns:a16="http://schemas.microsoft.com/office/drawing/2014/main" id="{FCB9323B-67F8-92BD-C776-0C8AD6CFC717}"/>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a:extLst>
                <a:ext uri="{FF2B5EF4-FFF2-40B4-BE49-F238E27FC236}">
                  <a16:creationId xmlns:a16="http://schemas.microsoft.com/office/drawing/2014/main" id="{A97F7C40-FFAE-9D63-56B7-DB4BDC9DDA47}"/>
                </a:ext>
              </a:extLst>
            </p:cNvPr>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sp>
        <p:nvSpPr>
          <p:cNvPr id="25" name="TextBox 15">
            <a:extLst>
              <a:ext uri="{FF2B5EF4-FFF2-40B4-BE49-F238E27FC236}">
                <a16:creationId xmlns:a16="http://schemas.microsoft.com/office/drawing/2014/main" id="{EEB8549F-EF87-FEFA-7406-B3A59061E79A}"/>
              </a:ext>
            </a:extLst>
          </p:cNvPr>
          <p:cNvSpPr txBox="1"/>
          <p:nvPr/>
        </p:nvSpPr>
        <p:spPr>
          <a:xfrm>
            <a:off x="610115" y="2266856"/>
            <a:ext cx="8248759" cy="276999"/>
          </a:xfrm>
          <a:prstGeom prst="rect">
            <a:avLst/>
          </a:prstGeom>
        </p:spPr>
        <p:txBody>
          <a:bodyPr lIns="0" tIns="0" rIns="0" bIns="0" rtlCol="0" anchor="t">
            <a:spAutoFit/>
          </a:bodyPr>
          <a:lstStyle/>
          <a:p>
            <a:r>
              <a:rPr lang="en-US" dirty="0">
                <a:latin typeface="Times New Roman" panose="02020603050405020304" pitchFamily="18" charset="0"/>
                <a:cs typeface="Times New Roman" panose="02020603050405020304" pitchFamily="18" charset="0"/>
              </a:rPr>
              <a:t>• Educational institutions consume large amounts of electricity daily</a:t>
            </a:r>
            <a:endParaRPr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D2724973-8676-4386-0AAB-BA61DB5E5753}"/>
              </a:ext>
            </a:extLst>
          </p:cNvPr>
          <p:cNvSpPr txBox="1"/>
          <p:nvPr/>
        </p:nvSpPr>
        <p:spPr>
          <a:xfrm>
            <a:off x="533303" y="2641956"/>
            <a:ext cx="824875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Monitoring energy usage manually is difficult and time consuming.</a:t>
            </a:r>
          </a:p>
        </p:txBody>
      </p:sp>
      <p:sp>
        <p:nvSpPr>
          <p:cNvPr id="29" name="TextBox 28">
            <a:extLst>
              <a:ext uri="{FF2B5EF4-FFF2-40B4-BE49-F238E27FC236}">
                <a16:creationId xmlns:a16="http://schemas.microsoft.com/office/drawing/2014/main" id="{93AC99F1-E1DF-0D3D-F353-F2F40CD3DA07}"/>
              </a:ext>
            </a:extLst>
          </p:cNvPr>
          <p:cNvSpPr txBox="1"/>
          <p:nvPr/>
        </p:nvSpPr>
        <p:spPr>
          <a:xfrm>
            <a:off x="538165" y="3037545"/>
            <a:ext cx="901202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Big Data enables efficient collection and analysis of energy consumption data.</a:t>
            </a:r>
          </a:p>
        </p:txBody>
      </p:sp>
      <p:sp>
        <p:nvSpPr>
          <p:cNvPr id="31" name="TextBox 30">
            <a:extLst>
              <a:ext uri="{FF2B5EF4-FFF2-40B4-BE49-F238E27FC236}">
                <a16:creationId xmlns:a16="http://schemas.microsoft.com/office/drawing/2014/main" id="{4F4FA8F8-48B3-8F69-3E22-120694C48207}"/>
              </a:ext>
            </a:extLst>
          </p:cNvPr>
          <p:cNvSpPr txBox="1"/>
          <p:nvPr/>
        </p:nvSpPr>
        <p:spPr>
          <a:xfrm>
            <a:off x="533303" y="3527211"/>
            <a:ext cx="914348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system identifies high-energy consumption areas and detects energy wastage.</a:t>
            </a:r>
          </a:p>
        </p:txBody>
      </p:sp>
      <p:sp>
        <p:nvSpPr>
          <p:cNvPr id="34" name="TextBox 21">
            <a:extLst>
              <a:ext uri="{FF2B5EF4-FFF2-40B4-BE49-F238E27FC236}">
                <a16:creationId xmlns:a16="http://schemas.microsoft.com/office/drawing/2014/main" id="{9E4E2130-2D3C-4C86-B9CA-C10023C72DBD}"/>
              </a:ext>
            </a:extLst>
          </p:cNvPr>
          <p:cNvSpPr txBox="1"/>
          <p:nvPr/>
        </p:nvSpPr>
        <p:spPr>
          <a:xfrm>
            <a:off x="3101350" y="7035698"/>
            <a:ext cx="3858245" cy="396610"/>
          </a:xfrm>
          <a:prstGeom prst="rect">
            <a:avLst/>
          </a:prstGeom>
        </p:spPr>
        <p:txBody>
          <a:bodyPr lIns="0" tIns="0" rIns="0" bIns="0" rtlCol="0" anchor="ctr"/>
          <a:lstStyle/>
          <a:p>
            <a:pPr algn="ctr">
              <a:lnSpc>
                <a:spcPts val="1152"/>
              </a:lnSpc>
            </a:pPr>
            <a:endPar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endParaRPr>
          </a:p>
        </p:txBody>
      </p:sp>
      <p:sp>
        <p:nvSpPr>
          <p:cNvPr id="37" name="TextBox 36">
            <a:extLst>
              <a:ext uri="{FF2B5EF4-FFF2-40B4-BE49-F238E27FC236}">
                <a16:creationId xmlns:a16="http://schemas.microsoft.com/office/drawing/2014/main" id="{FA2AE82C-4119-873A-9FBE-EA29CF1CFF59}"/>
              </a:ext>
            </a:extLst>
          </p:cNvPr>
          <p:cNvSpPr txBox="1"/>
          <p:nvPr/>
        </p:nvSpPr>
        <p:spPr>
          <a:xfrm>
            <a:off x="533303" y="4001261"/>
            <a:ext cx="852318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Interactive dashboards provide clear insights for decision-making.</a:t>
            </a:r>
          </a:p>
        </p:txBody>
      </p:sp>
      <p:sp>
        <p:nvSpPr>
          <p:cNvPr id="39" name="TextBox 38">
            <a:extLst>
              <a:ext uri="{FF2B5EF4-FFF2-40B4-BE49-F238E27FC236}">
                <a16:creationId xmlns:a16="http://schemas.microsoft.com/office/drawing/2014/main" id="{6D279109-85B8-E9CC-7061-62826C6BE3CD}"/>
              </a:ext>
            </a:extLst>
          </p:cNvPr>
          <p:cNvSpPr txBox="1"/>
          <p:nvPr/>
        </p:nvSpPr>
        <p:spPr>
          <a:xfrm>
            <a:off x="533303" y="4454808"/>
            <a:ext cx="914348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project helps optimize energy usage and promotes sustainable campus management</a:t>
            </a:r>
          </a:p>
        </p:txBody>
      </p:sp>
      <p:graphicFrame>
        <p:nvGraphicFramePr>
          <p:cNvPr id="22" name="Table 21">
            <a:extLst>
              <a:ext uri="{FF2B5EF4-FFF2-40B4-BE49-F238E27FC236}">
                <a16:creationId xmlns:a16="http://schemas.microsoft.com/office/drawing/2014/main" id="{3AA06666-2217-7E46-51F4-6C5DA3C2F599}"/>
              </a:ext>
            </a:extLst>
          </p:cNvPr>
          <p:cNvGraphicFramePr>
            <a:graphicFrameLocks noGrp="1"/>
          </p:cNvGraphicFramePr>
          <p:nvPr>
            <p:extLst>
              <p:ext uri="{D42A27DB-BD31-4B8C-83A1-F6EECF244321}">
                <p14:modId xmlns:p14="http://schemas.microsoft.com/office/powerpoint/2010/main" val="1613921580"/>
              </p:ext>
            </p:extLst>
          </p:nvPr>
        </p:nvGraphicFramePr>
        <p:xfrm>
          <a:off x="-1" y="1820213"/>
          <a:ext cx="9753601" cy="4929043"/>
        </p:xfrm>
        <a:graphic>
          <a:graphicData uri="http://schemas.openxmlformats.org/drawingml/2006/table">
            <a:tbl>
              <a:tblPr firstRow="1" bandRow="1">
                <a:tableStyleId>{93296810-A885-4BE3-A3E7-6D5BEEA58F35}</a:tableStyleId>
              </a:tblPr>
              <a:tblGrid>
                <a:gridCol w="949794">
                  <a:extLst>
                    <a:ext uri="{9D8B030D-6E8A-4147-A177-3AD203B41FA5}">
                      <a16:colId xmlns:a16="http://schemas.microsoft.com/office/drawing/2014/main" val="768381251"/>
                    </a:ext>
                  </a:extLst>
                </a:gridCol>
                <a:gridCol w="1630219">
                  <a:extLst>
                    <a:ext uri="{9D8B030D-6E8A-4147-A177-3AD203B41FA5}">
                      <a16:colId xmlns:a16="http://schemas.microsoft.com/office/drawing/2014/main" val="2628288938"/>
                    </a:ext>
                  </a:extLst>
                </a:gridCol>
                <a:gridCol w="1630219">
                  <a:extLst>
                    <a:ext uri="{9D8B030D-6E8A-4147-A177-3AD203B41FA5}">
                      <a16:colId xmlns:a16="http://schemas.microsoft.com/office/drawing/2014/main" val="1757783597"/>
                    </a:ext>
                  </a:extLst>
                </a:gridCol>
                <a:gridCol w="2013563">
                  <a:extLst>
                    <a:ext uri="{9D8B030D-6E8A-4147-A177-3AD203B41FA5}">
                      <a16:colId xmlns:a16="http://schemas.microsoft.com/office/drawing/2014/main" val="1591189252"/>
                    </a:ext>
                  </a:extLst>
                </a:gridCol>
                <a:gridCol w="1630219">
                  <a:extLst>
                    <a:ext uri="{9D8B030D-6E8A-4147-A177-3AD203B41FA5}">
                      <a16:colId xmlns:a16="http://schemas.microsoft.com/office/drawing/2014/main" val="3614079311"/>
                    </a:ext>
                  </a:extLst>
                </a:gridCol>
                <a:gridCol w="1899587">
                  <a:extLst>
                    <a:ext uri="{9D8B030D-6E8A-4147-A177-3AD203B41FA5}">
                      <a16:colId xmlns:a16="http://schemas.microsoft.com/office/drawing/2014/main" val="2346948399"/>
                    </a:ext>
                  </a:extLst>
                </a:gridCol>
              </a:tblGrid>
              <a:tr h="332603">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YEAR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PAPER NAME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AUTHOR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OVERVIEW</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ADVANTAGE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DISADVANTAGE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1429617"/>
                  </a:ext>
                </a:extLst>
              </a:tr>
              <a:tr h="2298220">
                <a:tc>
                  <a:txBody>
                    <a:bodyPr/>
                    <a:lstStyle/>
                    <a:p>
                      <a:r>
                        <a:rPr lang="en-US" sz="1400" dirty="0">
                          <a:latin typeface="Times New Roman" panose="02020603050405020304" pitchFamily="18" charset="0"/>
                          <a:cs typeface="Times New Roman" panose="02020603050405020304" pitchFamily="18" charset="0"/>
                        </a:rPr>
                        <a:t>2022</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latin typeface="Times New Roman" panose="02020603050405020304" pitchFamily="18" charset="0"/>
                          <a:cs typeface="Times New Roman" panose="02020603050405020304" pitchFamily="18" charset="0"/>
                        </a:rPr>
                        <a:t>Effect of Physical, Environmental, and Social Factors on Building Energy Consumption Based on Real-World Big Data</a:t>
                      </a:r>
                    </a:p>
                  </a:txBody>
                  <a:tcPr/>
                </a:tc>
                <a:tc>
                  <a:txBody>
                    <a:bodyPr/>
                    <a:lstStyle/>
                    <a:p>
                      <a:r>
                        <a:rPr lang="en-IN" sz="1400" dirty="0">
                          <a:latin typeface="Times New Roman" panose="02020603050405020304" pitchFamily="18" charset="0"/>
                          <a:cs typeface="Times New Roman" panose="02020603050405020304" pitchFamily="18" charset="0"/>
                        </a:rPr>
                        <a:t>Y. Wang </a:t>
                      </a:r>
                    </a:p>
                  </a:txBody>
                  <a:tcPr/>
                </a:tc>
                <a:tc>
                  <a:txBody>
                    <a:bodyPr/>
                    <a:lstStyle/>
                    <a:p>
                      <a:pPr lvl="0" algn="l"/>
                      <a:r>
                        <a:rPr lang="en-IN" sz="1400" dirty="0">
                          <a:latin typeface="Times New Roman" panose="02020603050405020304" pitchFamily="18" charset="0"/>
                          <a:cs typeface="Times New Roman" panose="02020603050405020304" pitchFamily="18" charset="0"/>
                        </a:rPr>
                        <a:t>Uses large-scale building energy datasets to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factors influencing electricity consumption. Demonstrates the role of Big Data analytics in understanding energy usage patterns.</a:t>
                      </a:r>
                    </a:p>
                  </a:txBody>
                  <a:tcPr/>
                </a:tc>
                <a:tc>
                  <a:txBody>
                    <a:bodyPr/>
                    <a:lstStyle/>
                    <a:p>
                      <a:r>
                        <a:rPr lang="en-IN" sz="1400" dirty="0">
                          <a:latin typeface="Times New Roman" panose="02020603050405020304" pitchFamily="18" charset="0"/>
                          <a:cs typeface="Times New Roman" panose="02020603050405020304" pitchFamily="18" charset="0"/>
                        </a:rPr>
                        <a:t>Utilizes large datasets and advanced analytics for energy consumption studies.</a:t>
                      </a:r>
                    </a:p>
                  </a:txBody>
                  <a:tcPr/>
                </a:tc>
                <a:tc>
                  <a:txBody>
                    <a:bodyPr/>
                    <a:lstStyle/>
                    <a:p>
                      <a:r>
                        <a:rPr lang="en-IN" sz="1400" dirty="0">
                          <a:latin typeface="Times New Roman" panose="02020603050405020304" pitchFamily="18" charset="0"/>
                          <a:cs typeface="Times New Roman" panose="02020603050405020304" pitchFamily="18" charset="0"/>
                        </a:rPr>
                        <a:t>Focuses on prediction models instead of descriptive analysis for campus buildings.</a:t>
                      </a:r>
                    </a:p>
                  </a:txBody>
                  <a:tcPr/>
                </a:tc>
                <a:extLst>
                  <a:ext uri="{0D108BD9-81ED-4DB2-BD59-A6C34878D82A}">
                    <a16:rowId xmlns:a16="http://schemas.microsoft.com/office/drawing/2014/main" val="1677724808"/>
                  </a:ext>
                </a:extLst>
              </a:tr>
              <a:tr h="2298220">
                <a:tc>
                  <a:txBody>
                    <a:bodyPr/>
                    <a:lstStyle/>
                    <a:p>
                      <a:r>
                        <a:rPr lang="en-US" sz="1400" dirty="0">
                          <a:latin typeface="Times New Roman" panose="02020603050405020304" pitchFamily="18" charset="0"/>
                          <a:cs typeface="Times New Roman" panose="02020603050405020304" pitchFamily="18" charset="0"/>
                        </a:rPr>
                        <a:t>2022</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latin typeface="Times New Roman" panose="02020603050405020304" pitchFamily="18" charset="0"/>
                          <a:cs typeface="Times New Roman" panose="02020603050405020304" pitchFamily="18" charset="0"/>
                        </a:rPr>
                        <a:t>AI–Big Data Analytics for Building Automation and Management Systems: A Survey</a:t>
                      </a:r>
                    </a:p>
                  </a:txBody>
                  <a:tcPr/>
                </a:tc>
                <a:tc>
                  <a:txBody>
                    <a:bodyPr/>
                    <a:lstStyle/>
                    <a:p>
                      <a:r>
                        <a:rPr lang="en-IN" sz="1400" dirty="0">
                          <a:latin typeface="Times New Roman" panose="02020603050405020304" pitchFamily="18" charset="0"/>
                          <a:cs typeface="Times New Roman" panose="02020603050405020304" pitchFamily="18" charset="0"/>
                        </a:rPr>
                        <a:t>M. H. Rehmani </a:t>
                      </a:r>
                    </a:p>
                  </a:txBody>
                  <a:tcPr/>
                </a:tc>
                <a:tc>
                  <a:txBody>
                    <a:bodyPr/>
                    <a:lstStyle/>
                    <a:p>
                      <a:pPr lvl="0" algn="l"/>
                      <a:r>
                        <a:rPr lang="en-IN" sz="1400" dirty="0">
                          <a:latin typeface="Times New Roman" panose="02020603050405020304" pitchFamily="18" charset="0"/>
                          <a:cs typeface="Times New Roman" panose="02020603050405020304" pitchFamily="18" charset="0"/>
                        </a:rPr>
                        <a:t>Surveys Big Data technologies used in building automation, energy monitoring, and intelligent energy management systems. Discusses Hadoop, Spark, IoT, and visualization techniques.</a:t>
                      </a:r>
                    </a:p>
                  </a:txBody>
                  <a:tcPr/>
                </a:tc>
                <a:tc>
                  <a:txBody>
                    <a:bodyPr/>
                    <a:lstStyle/>
                    <a:p>
                      <a:r>
                        <a:rPr lang="en-IN" sz="1400" dirty="0">
                          <a:latin typeface="Times New Roman" panose="02020603050405020304" pitchFamily="18" charset="0"/>
                          <a:cs typeface="Times New Roman" panose="02020603050405020304" pitchFamily="18" charset="0"/>
                        </a:rPr>
                        <a:t>Comprehensive overview of Big Data technologies for smart buildings. Highlights modern analytics techniques.</a:t>
                      </a:r>
                    </a:p>
                  </a:txBody>
                  <a:tcPr/>
                </a:tc>
                <a:tc>
                  <a:txBody>
                    <a:bodyPr/>
                    <a:lstStyle/>
                    <a:p>
                      <a:r>
                        <a:rPr lang="en-IN" sz="1400" dirty="0">
                          <a:latin typeface="Times New Roman" panose="02020603050405020304" pitchFamily="18" charset="0"/>
                          <a:cs typeface="Times New Roman" panose="02020603050405020304" pitchFamily="18" charset="0"/>
                        </a:rPr>
                        <a:t>Survey paper only; does not provide a complete implementation for campus energy analytics.</a:t>
                      </a:r>
                    </a:p>
                  </a:txBody>
                  <a:tcPr/>
                </a:tc>
                <a:extLst>
                  <a:ext uri="{0D108BD9-81ED-4DB2-BD59-A6C34878D82A}">
                    <a16:rowId xmlns:a16="http://schemas.microsoft.com/office/drawing/2014/main" val="376242518"/>
                  </a:ext>
                </a:extLst>
              </a:tr>
            </a:tbl>
          </a:graphicData>
        </a:graphic>
      </p:graphicFrame>
    </p:spTree>
    <p:extLst>
      <p:ext uri="{BB962C8B-B14F-4D97-AF65-F5344CB8AC3E}">
        <p14:creationId xmlns:p14="http://schemas.microsoft.com/office/powerpoint/2010/main" val="2663937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3A7E-FF75-3822-D55B-01FA05D5097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610FCB-9049-65A0-F7BF-5B3B01CB63F6}"/>
              </a:ext>
            </a:extLst>
          </p:cNvPr>
          <p:cNvGrpSpPr/>
          <p:nvPr/>
        </p:nvGrpSpPr>
        <p:grpSpPr>
          <a:xfrm>
            <a:off x="0" y="6827520"/>
            <a:ext cx="9753600" cy="487680"/>
            <a:chOff x="0" y="0"/>
            <a:chExt cx="13004800" cy="650240"/>
          </a:xfrm>
        </p:grpSpPr>
        <p:sp>
          <p:nvSpPr>
            <p:cNvPr id="3" name="Freeform 3">
              <a:extLst>
                <a:ext uri="{FF2B5EF4-FFF2-40B4-BE49-F238E27FC236}">
                  <a16:creationId xmlns:a16="http://schemas.microsoft.com/office/drawing/2014/main" id="{7F936DFA-1787-0588-5F1D-158B66DA1EC0}"/>
                </a:ext>
              </a:extLst>
            </p:cNvPr>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a:extLst>
              <a:ext uri="{FF2B5EF4-FFF2-40B4-BE49-F238E27FC236}">
                <a16:creationId xmlns:a16="http://schemas.microsoft.com/office/drawing/2014/main" id="{A1D48B8C-5E27-B11F-76C3-82A08609B4CD}"/>
              </a:ext>
            </a:extLst>
          </p:cNvPr>
          <p:cNvGrpSpPr/>
          <p:nvPr/>
        </p:nvGrpSpPr>
        <p:grpSpPr>
          <a:xfrm>
            <a:off x="0" y="6756606"/>
            <a:ext cx="9753600" cy="70399"/>
            <a:chOff x="0" y="0"/>
            <a:chExt cx="13004800" cy="93866"/>
          </a:xfrm>
        </p:grpSpPr>
        <p:sp>
          <p:nvSpPr>
            <p:cNvPr id="5" name="Freeform 5">
              <a:extLst>
                <a:ext uri="{FF2B5EF4-FFF2-40B4-BE49-F238E27FC236}">
                  <a16:creationId xmlns:a16="http://schemas.microsoft.com/office/drawing/2014/main" id="{0460E7C3-FCD4-FD5E-4654-EB891E57A377}"/>
                </a:ext>
              </a:extLst>
            </p:cNvPr>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a:extLst>
              <a:ext uri="{FF2B5EF4-FFF2-40B4-BE49-F238E27FC236}">
                <a16:creationId xmlns:a16="http://schemas.microsoft.com/office/drawing/2014/main" id="{15BD1034-916B-7B7D-90FF-58AB408A5DC5}"/>
              </a:ext>
            </a:extLst>
          </p:cNvPr>
          <p:cNvSpPr/>
          <p:nvPr/>
        </p:nvSpPr>
        <p:spPr>
          <a:xfrm rot="2940">
            <a:off x="822100" y="1077083"/>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a:extLst>
              <a:ext uri="{FF2B5EF4-FFF2-40B4-BE49-F238E27FC236}">
                <a16:creationId xmlns:a16="http://schemas.microsoft.com/office/drawing/2014/main" id="{15CBE5B3-9554-020D-5D2A-BB240A4D641C}"/>
              </a:ext>
            </a:extLst>
          </p:cNvPr>
          <p:cNvGrpSpPr/>
          <p:nvPr/>
        </p:nvGrpSpPr>
        <p:grpSpPr>
          <a:xfrm>
            <a:off x="0" y="190109"/>
            <a:ext cx="1644186" cy="1547470"/>
            <a:chOff x="0" y="0"/>
            <a:chExt cx="2192249" cy="2063293"/>
          </a:xfrm>
        </p:grpSpPr>
        <p:sp>
          <p:nvSpPr>
            <p:cNvPr id="8" name="Freeform 8">
              <a:extLst>
                <a:ext uri="{FF2B5EF4-FFF2-40B4-BE49-F238E27FC236}">
                  <a16:creationId xmlns:a16="http://schemas.microsoft.com/office/drawing/2014/main" id="{CDCF9880-B752-388F-68C7-28F58749CC73}"/>
                </a:ext>
              </a:extLst>
            </p:cNvPr>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a:extLst>
              <a:ext uri="{FF2B5EF4-FFF2-40B4-BE49-F238E27FC236}">
                <a16:creationId xmlns:a16="http://schemas.microsoft.com/office/drawing/2014/main" id="{FAF9984C-A6E7-5428-49B3-5F0A4DED98DA}"/>
              </a:ext>
            </a:extLst>
          </p:cNvPr>
          <p:cNvGrpSpPr/>
          <p:nvPr/>
        </p:nvGrpSpPr>
        <p:grpSpPr>
          <a:xfrm>
            <a:off x="1298452" y="-355016"/>
            <a:ext cx="7758037" cy="1680880"/>
            <a:chOff x="0" y="-599550"/>
            <a:chExt cx="10344049" cy="2241174"/>
          </a:xfrm>
        </p:grpSpPr>
        <p:sp>
          <p:nvSpPr>
            <p:cNvPr id="10" name="Freeform 10">
              <a:extLst>
                <a:ext uri="{FF2B5EF4-FFF2-40B4-BE49-F238E27FC236}">
                  <a16:creationId xmlns:a16="http://schemas.microsoft.com/office/drawing/2014/main" id="{C0EF058C-102D-C161-1868-F8469001C81C}"/>
                </a:ext>
              </a:extLst>
            </p:cNvPr>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a:extLst>
                <a:ext uri="{FF2B5EF4-FFF2-40B4-BE49-F238E27FC236}">
                  <a16:creationId xmlns:a16="http://schemas.microsoft.com/office/drawing/2014/main" id="{159A7FCB-C5CC-6A50-447A-80B2EFF4910E}"/>
                </a:ext>
              </a:extLst>
            </p:cNvPr>
            <p:cNvSpPr txBox="1"/>
            <p:nvPr/>
          </p:nvSpPr>
          <p:spPr>
            <a:xfrm>
              <a:off x="32157" y="-599550"/>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LITERATURE REVIEW</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grpSp>
        <p:nvGrpSpPr>
          <p:cNvPr id="12" name="Group 12">
            <a:extLst>
              <a:ext uri="{FF2B5EF4-FFF2-40B4-BE49-F238E27FC236}">
                <a16:creationId xmlns:a16="http://schemas.microsoft.com/office/drawing/2014/main" id="{6B7C0F39-6174-B881-B064-9D8337EE169E}"/>
              </a:ext>
            </a:extLst>
          </p:cNvPr>
          <p:cNvGrpSpPr/>
          <p:nvPr/>
        </p:nvGrpSpPr>
        <p:grpSpPr>
          <a:xfrm>
            <a:off x="7920371" y="6890442"/>
            <a:ext cx="1049617" cy="389467"/>
            <a:chOff x="0" y="0"/>
            <a:chExt cx="1399489" cy="519289"/>
          </a:xfrm>
        </p:grpSpPr>
        <p:sp>
          <p:nvSpPr>
            <p:cNvPr id="13" name="Freeform 13">
              <a:extLst>
                <a:ext uri="{FF2B5EF4-FFF2-40B4-BE49-F238E27FC236}">
                  <a16:creationId xmlns:a16="http://schemas.microsoft.com/office/drawing/2014/main" id="{7A2B880A-F7BD-CEEB-6D54-06EECC0D4BCA}"/>
                </a:ext>
              </a:extLst>
            </p:cNvPr>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a:extLst>
                <a:ext uri="{FF2B5EF4-FFF2-40B4-BE49-F238E27FC236}">
                  <a16:creationId xmlns:a16="http://schemas.microsoft.com/office/drawing/2014/main" id="{68FD8F8F-C6FF-B013-795B-8B5A445DAF50}"/>
                </a:ext>
              </a:extLst>
            </p:cNvPr>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8</a:t>
              </a:r>
            </a:p>
          </p:txBody>
        </p:sp>
      </p:grpSp>
      <p:sp>
        <p:nvSpPr>
          <p:cNvPr id="15" name="TextBox 15">
            <a:extLst>
              <a:ext uri="{FF2B5EF4-FFF2-40B4-BE49-F238E27FC236}">
                <a16:creationId xmlns:a16="http://schemas.microsoft.com/office/drawing/2014/main" id="{62DBF7AC-3205-A32B-8637-1F7D4297FA59}"/>
              </a:ext>
            </a:extLst>
          </p:cNvPr>
          <p:cNvSpPr txBox="1"/>
          <p:nvPr/>
        </p:nvSpPr>
        <p:spPr>
          <a:xfrm>
            <a:off x="783612" y="2579148"/>
            <a:ext cx="8248759"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grpSp>
        <p:nvGrpSpPr>
          <p:cNvPr id="16" name="Group 16">
            <a:extLst>
              <a:ext uri="{FF2B5EF4-FFF2-40B4-BE49-F238E27FC236}">
                <a16:creationId xmlns:a16="http://schemas.microsoft.com/office/drawing/2014/main" id="{C5FC05EE-0E93-5D08-5E4F-B247D5640277}"/>
              </a:ext>
            </a:extLst>
          </p:cNvPr>
          <p:cNvGrpSpPr/>
          <p:nvPr/>
        </p:nvGrpSpPr>
        <p:grpSpPr>
          <a:xfrm>
            <a:off x="877824" y="6890442"/>
            <a:ext cx="1977819" cy="389467"/>
            <a:chOff x="0" y="0"/>
            <a:chExt cx="2637092" cy="519289"/>
          </a:xfrm>
        </p:grpSpPr>
        <p:sp>
          <p:nvSpPr>
            <p:cNvPr id="17" name="Freeform 17">
              <a:extLst>
                <a:ext uri="{FF2B5EF4-FFF2-40B4-BE49-F238E27FC236}">
                  <a16:creationId xmlns:a16="http://schemas.microsoft.com/office/drawing/2014/main" id="{C002B7ED-B57D-7FAD-B2CD-04EF9F78A232}"/>
                </a:ext>
              </a:extLst>
            </p:cNvPr>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a:extLst>
                <a:ext uri="{FF2B5EF4-FFF2-40B4-BE49-F238E27FC236}">
                  <a16:creationId xmlns:a16="http://schemas.microsoft.com/office/drawing/2014/main" id="{094CD0B8-ADCC-7C66-B6EF-E8E3E316FFEF}"/>
                </a:ext>
              </a:extLst>
            </p:cNvPr>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a:extLst>
              <a:ext uri="{FF2B5EF4-FFF2-40B4-BE49-F238E27FC236}">
                <a16:creationId xmlns:a16="http://schemas.microsoft.com/office/drawing/2014/main" id="{E6F46D9A-DFEF-BB8A-7ADB-D98C832117AD}"/>
              </a:ext>
            </a:extLst>
          </p:cNvPr>
          <p:cNvGrpSpPr/>
          <p:nvPr/>
        </p:nvGrpSpPr>
        <p:grpSpPr>
          <a:xfrm>
            <a:off x="2948950" y="6890442"/>
            <a:ext cx="3858244" cy="389467"/>
            <a:chOff x="0" y="0"/>
            <a:chExt cx="5144326" cy="519289"/>
          </a:xfrm>
        </p:grpSpPr>
        <p:sp>
          <p:nvSpPr>
            <p:cNvPr id="20" name="Freeform 20">
              <a:extLst>
                <a:ext uri="{FF2B5EF4-FFF2-40B4-BE49-F238E27FC236}">
                  <a16:creationId xmlns:a16="http://schemas.microsoft.com/office/drawing/2014/main" id="{AC98259E-1891-4F0C-BC0E-664A472001B0}"/>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a:extLst>
                <a:ext uri="{FF2B5EF4-FFF2-40B4-BE49-F238E27FC236}">
                  <a16:creationId xmlns:a16="http://schemas.microsoft.com/office/drawing/2014/main" id="{CF863A57-93DD-0681-65F3-74E4E333A59A}"/>
                </a:ext>
              </a:extLst>
            </p:cNvPr>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a:solidFill>
                    <a:srgbClr val="FFFFFF"/>
                  </a:solidFill>
                  <a:latin typeface="Times New Roman" panose="02020603050405020304" pitchFamily="18" charset="0"/>
                  <a:ea typeface="Times New Roman"/>
                  <a:cs typeface="Times New Roman" panose="02020603050405020304" pitchFamily="18" charset="0"/>
                  <a:sym typeface="Times New Roman"/>
                </a:rPr>
                <a:t>St.Thomas Institute for Science &amp; Technology, Trivandrum</a:t>
              </a:r>
            </a:p>
          </p:txBody>
        </p:sp>
      </p:grpSp>
      <p:sp>
        <p:nvSpPr>
          <p:cNvPr id="25" name="TextBox 15">
            <a:extLst>
              <a:ext uri="{FF2B5EF4-FFF2-40B4-BE49-F238E27FC236}">
                <a16:creationId xmlns:a16="http://schemas.microsoft.com/office/drawing/2014/main" id="{B7CF4375-330F-6B68-3537-F849E9BD0AC5}"/>
              </a:ext>
            </a:extLst>
          </p:cNvPr>
          <p:cNvSpPr txBox="1"/>
          <p:nvPr/>
        </p:nvSpPr>
        <p:spPr>
          <a:xfrm>
            <a:off x="610115" y="2266856"/>
            <a:ext cx="8248759" cy="276999"/>
          </a:xfrm>
          <a:prstGeom prst="rect">
            <a:avLst/>
          </a:prstGeom>
        </p:spPr>
        <p:txBody>
          <a:bodyPr lIns="0" tIns="0" rIns="0" bIns="0" rtlCol="0" anchor="t">
            <a:spAutoFit/>
          </a:bodyPr>
          <a:lstStyle/>
          <a:p>
            <a:r>
              <a:rPr lang="en-US" dirty="0">
                <a:latin typeface="Times New Roman" panose="02020603050405020304" pitchFamily="18" charset="0"/>
                <a:cs typeface="Times New Roman" panose="02020603050405020304" pitchFamily="18" charset="0"/>
              </a:rPr>
              <a:t>• Educational institutions consume large amounts of electricity daily</a:t>
            </a:r>
            <a:endParaRPr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2359563-61DE-CF3F-3AAB-91DCC3DBBC6E}"/>
              </a:ext>
            </a:extLst>
          </p:cNvPr>
          <p:cNvSpPr txBox="1"/>
          <p:nvPr/>
        </p:nvSpPr>
        <p:spPr>
          <a:xfrm>
            <a:off x="533303" y="2641956"/>
            <a:ext cx="824875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Monitoring energy usage manually is difficult and time consuming.</a:t>
            </a:r>
          </a:p>
        </p:txBody>
      </p:sp>
      <p:sp>
        <p:nvSpPr>
          <p:cNvPr id="29" name="TextBox 28">
            <a:extLst>
              <a:ext uri="{FF2B5EF4-FFF2-40B4-BE49-F238E27FC236}">
                <a16:creationId xmlns:a16="http://schemas.microsoft.com/office/drawing/2014/main" id="{A1C49D84-A741-F2C5-1C15-530DD6B022ED}"/>
              </a:ext>
            </a:extLst>
          </p:cNvPr>
          <p:cNvSpPr txBox="1"/>
          <p:nvPr/>
        </p:nvSpPr>
        <p:spPr>
          <a:xfrm>
            <a:off x="538165" y="3037545"/>
            <a:ext cx="901202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Big Data enables efficient collection and analysis of energy consumption data.</a:t>
            </a:r>
          </a:p>
        </p:txBody>
      </p:sp>
      <p:sp>
        <p:nvSpPr>
          <p:cNvPr id="31" name="TextBox 30">
            <a:extLst>
              <a:ext uri="{FF2B5EF4-FFF2-40B4-BE49-F238E27FC236}">
                <a16:creationId xmlns:a16="http://schemas.microsoft.com/office/drawing/2014/main" id="{BD65324D-82E2-7C6F-FF3E-D7E33F81A12A}"/>
              </a:ext>
            </a:extLst>
          </p:cNvPr>
          <p:cNvSpPr txBox="1"/>
          <p:nvPr/>
        </p:nvSpPr>
        <p:spPr>
          <a:xfrm>
            <a:off x="533303" y="3527211"/>
            <a:ext cx="914348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system identifies high-energy consumption areas and detects energy wastage.</a:t>
            </a:r>
          </a:p>
        </p:txBody>
      </p:sp>
      <p:sp>
        <p:nvSpPr>
          <p:cNvPr id="34" name="TextBox 21">
            <a:extLst>
              <a:ext uri="{FF2B5EF4-FFF2-40B4-BE49-F238E27FC236}">
                <a16:creationId xmlns:a16="http://schemas.microsoft.com/office/drawing/2014/main" id="{522E9D15-A9E8-F932-8979-204893C16572}"/>
              </a:ext>
            </a:extLst>
          </p:cNvPr>
          <p:cNvSpPr txBox="1"/>
          <p:nvPr/>
        </p:nvSpPr>
        <p:spPr>
          <a:xfrm>
            <a:off x="3101350" y="7035698"/>
            <a:ext cx="3858245" cy="396610"/>
          </a:xfrm>
          <a:prstGeom prst="rect">
            <a:avLst/>
          </a:prstGeom>
        </p:spPr>
        <p:txBody>
          <a:bodyPr lIns="0" tIns="0" rIns="0" bIns="0" rtlCol="0" anchor="ctr"/>
          <a:lstStyle/>
          <a:p>
            <a:pPr algn="ctr">
              <a:lnSpc>
                <a:spcPts val="1152"/>
              </a:lnSpc>
            </a:pPr>
            <a:endPar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endParaRPr>
          </a:p>
        </p:txBody>
      </p:sp>
      <p:sp>
        <p:nvSpPr>
          <p:cNvPr id="37" name="TextBox 36">
            <a:extLst>
              <a:ext uri="{FF2B5EF4-FFF2-40B4-BE49-F238E27FC236}">
                <a16:creationId xmlns:a16="http://schemas.microsoft.com/office/drawing/2014/main" id="{CC5001B1-65CD-BA08-7EFF-8285215F1945}"/>
              </a:ext>
            </a:extLst>
          </p:cNvPr>
          <p:cNvSpPr txBox="1"/>
          <p:nvPr/>
        </p:nvSpPr>
        <p:spPr>
          <a:xfrm>
            <a:off x="533303" y="4001261"/>
            <a:ext cx="852318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Interactive dashboards provide clear insights for decision-making.</a:t>
            </a:r>
          </a:p>
        </p:txBody>
      </p:sp>
      <p:sp>
        <p:nvSpPr>
          <p:cNvPr id="39" name="TextBox 38">
            <a:extLst>
              <a:ext uri="{FF2B5EF4-FFF2-40B4-BE49-F238E27FC236}">
                <a16:creationId xmlns:a16="http://schemas.microsoft.com/office/drawing/2014/main" id="{79DFF756-F8CA-145D-87C7-3F3A1BF494F1}"/>
              </a:ext>
            </a:extLst>
          </p:cNvPr>
          <p:cNvSpPr txBox="1"/>
          <p:nvPr/>
        </p:nvSpPr>
        <p:spPr>
          <a:xfrm>
            <a:off x="533303" y="4454808"/>
            <a:ext cx="914348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project helps optimize energy usage and promotes sustainable campus management</a:t>
            </a:r>
          </a:p>
        </p:txBody>
      </p:sp>
      <p:graphicFrame>
        <p:nvGraphicFramePr>
          <p:cNvPr id="22" name="Table 21">
            <a:extLst>
              <a:ext uri="{FF2B5EF4-FFF2-40B4-BE49-F238E27FC236}">
                <a16:creationId xmlns:a16="http://schemas.microsoft.com/office/drawing/2014/main" id="{36667319-94C9-6568-7711-CDB5FE2A0706}"/>
              </a:ext>
            </a:extLst>
          </p:cNvPr>
          <p:cNvGraphicFramePr>
            <a:graphicFrameLocks noGrp="1"/>
          </p:cNvGraphicFramePr>
          <p:nvPr>
            <p:extLst>
              <p:ext uri="{D42A27DB-BD31-4B8C-83A1-F6EECF244321}">
                <p14:modId xmlns:p14="http://schemas.microsoft.com/office/powerpoint/2010/main" val="2927446175"/>
              </p:ext>
            </p:extLst>
          </p:nvPr>
        </p:nvGraphicFramePr>
        <p:xfrm>
          <a:off x="-1" y="1760794"/>
          <a:ext cx="9753601" cy="4995287"/>
        </p:xfrm>
        <a:graphic>
          <a:graphicData uri="http://schemas.openxmlformats.org/drawingml/2006/table">
            <a:tbl>
              <a:tblPr firstRow="1" bandRow="1">
                <a:tableStyleId>{93296810-A885-4BE3-A3E7-6D5BEEA58F35}</a:tableStyleId>
              </a:tblPr>
              <a:tblGrid>
                <a:gridCol w="949794">
                  <a:extLst>
                    <a:ext uri="{9D8B030D-6E8A-4147-A177-3AD203B41FA5}">
                      <a16:colId xmlns:a16="http://schemas.microsoft.com/office/drawing/2014/main" val="768381251"/>
                    </a:ext>
                  </a:extLst>
                </a:gridCol>
                <a:gridCol w="1630219">
                  <a:extLst>
                    <a:ext uri="{9D8B030D-6E8A-4147-A177-3AD203B41FA5}">
                      <a16:colId xmlns:a16="http://schemas.microsoft.com/office/drawing/2014/main" val="2628288938"/>
                    </a:ext>
                  </a:extLst>
                </a:gridCol>
                <a:gridCol w="1630219">
                  <a:extLst>
                    <a:ext uri="{9D8B030D-6E8A-4147-A177-3AD203B41FA5}">
                      <a16:colId xmlns:a16="http://schemas.microsoft.com/office/drawing/2014/main" val="1757783597"/>
                    </a:ext>
                  </a:extLst>
                </a:gridCol>
                <a:gridCol w="2013563">
                  <a:extLst>
                    <a:ext uri="{9D8B030D-6E8A-4147-A177-3AD203B41FA5}">
                      <a16:colId xmlns:a16="http://schemas.microsoft.com/office/drawing/2014/main" val="1591189252"/>
                    </a:ext>
                  </a:extLst>
                </a:gridCol>
                <a:gridCol w="1630219">
                  <a:extLst>
                    <a:ext uri="{9D8B030D-6E8A-4147-A177-3AD203B41FA5}">
                      <a16:colId xmlns:a16="http://schemas.microsoft.com/office/drawing/2014/main" val="3614079311"/>
                    </a:ext>
                  </a:extLst>
                </a:gridCol>
                <a:gridCol w="1899587">
                  <a:extLst>
                    <a:ext uri="{9D8B030D-6E8A-4147-A177-3AD203B41FA5}">
                      <a16:colId xmlns:a16="http://schemas.microsoft.com/office/drawing/2014/main" val="2346948399"/>
                    </a:ext>
                  </a:extLst>
                </a:gridCol>
              </a:tblGrid>
              <a:tr h="357008">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YEAR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PAPER NAME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AUTHOR</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OVERVIEW</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ADVANTAGE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400" dirty="0">
                          <a:solidFill>
                            <a:schemeClr val="tx1">
                              <a:lumMod val="85000"/>
                              <a:lumOff val="15000"/>
                            </a:schemeClr>
                          </a:solidFill>
                          <a:latin typeface="Times New Roman" panose="02020603050405020304" pitchFamily="18" charset="0"/>
                          <a:cs typeface="Times New Roman" panose="02020603050405020304" pitchFamily="18" charset="0"/>
                        </a:rPr>
                        <a:t>DISADVANTAGE</a:t>
                      </a:r>
                      <a:endParaRPr lang="en-IN" sz="14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1429617"/>
                  </a:ext>
                </a:extLst>
              </a:tr>
              <a:tr h="3302327">
                <a:tc>
                  <a:txBody>
                    <a:bodyPr/>
                    <a:lstStyle/>
                    <a:p>
                      <a:r>
                        <a:rPr lang="en-US" sz="1400" dirty="0">
                          <a:latin typeface="Times New Roman" panose="02020603050405020304" pitchFamily="18" charset="0"/>
                          <a:cs typeface="Times New Roman" panose="02020603050405020304" pitchFamily="18" charset="0"/>
                        </a:rPr>
                        <a:t>2023</a:t>
                      </a:r>
                      <a:endParaRPr lang="en-IN" sz="1400" dirty="0">
                        <a:latin typeface="Times New Roman" panose="02020603050405020304" pitchFamily="18" charset="0"/>
                        <a:cs typeface="Times New Roman" panose="02020603050405020304" pitchFamily="18" charset="0"/>
                      </a:endParaRPr>
                    </a:p>
                  </a:txBody>
                  <a:tcPr/>
                </a:tc>
                <a:tc>
                  <a:txBody>
                    <a:bodyPr/>
                    <a:lstStyle/>
                    <a:p>
                      <a:pPr lvl="0" algn="l"/>
                      <a:r>
                        <a:rPr lang="en-IN" sz="1400" dirty="0">
                          <a:latin typeface="Times New Roman" panose="02020603050405020304" pitchFamily="18" charset="0"/>
                          <a:cs typeface="Times New Roman" panose="02020603050405020304" pitchFamily="18" charset="0"/>
                        </a:rPr>
                        <a:t>Big Data Analytics Framework for Smart Building Energy Management</a:t>
                      </a:r>
                    </a:p>
                  </a:txBody>
                  <a:tcPr/>
                </a:tc>
                <a:tc>
                  <a:txBody>
                    <a:bodyPr/>
                    <a:lstStyle/>
                    <a:p>
                      <a:r>
                        <a:rPr lang="en-IN" sz="1400" dirty="0">
                          <a:latin typeface="Times New Roman" panose="02020603050405020304" pitchFamily="18" charset="0"/>
                          <a:cs typeface="Times New Roman" panose="02020603050405020304" pitchFamily="18" charset="0"/>
                        </a:rPr>
                        <a:t>H. Zhang </a:t>
                      </a:r>
                    </a:p>
                  </a:txBody>
                  <a:tcPr/>
                </a:tc>
                <a:tc>
                  <a:txBody>
                    <a:bodyPr/>
                    <a:lstStyle/>
                    <a:p>
                      <a:pPr lvl="0" algn="l"/>
                      <a:r>
                        <a:rPr lang="en-IN" sz="1400" dirty="0">
                          <a:latin typeface="Times New Roman" panose="02020603050405020304" pitchFamily="18" charset="0"/>
                          <a:cs typeface="Times New Roman" panose="02020603050405020304" pitchFamily="18" charset="0"/>
                        </a:rPr>
                        <a:t>Proposes a Big Data framework integrating Hadoop and Spark to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building electricity consumption and improve energy efficiency.</a:t>
                      </a:r>
                    </a:p>
                  </a:txBody>
                  <a:tcPr/>
                </a:tc>
                <a:tc>
                  <a:txBody>
                    <a:bodyPr/>
                    <a:lstStyle/>
                    <a:p>
                      <a:r>
                        <a:rPr lang="en-IN" sz="1400" dirty="0">
                          <a:latin typeface="Times New Roman" panose="02020603050405020304" pitchFamily="18" charset="0"/>
                          <a:cs typeface="Times New Roman" panose="02020603050405020304" pitchFamily="18" charset="0"/>
                        </a:rPr>
                        <a:t>Efficient distributed processing, scalable architecture, and interactive visualization support.</a:t>
                      </a:r>
                    </a:p>
                  </a:txBody>
                  <a:tcPr/>
                </a:tc>
                <a:tc>
                  <a:txBody>
                    <a:bodyPr/>
                    <a:lstStyle/>
                    <a:p>
                      <a:r>
                        <a:rPr lang="en-IN" sz="1400" dirty="0">
                          <a:latin typeface="Times New Roman" panose="02020603050405020304" pitchFamily="18" charset="0"/>
                          <a:cs typeface="Times New Roman" panose="02020603050405020304" pitchFamily="18" charset="0"/>
                        </a:rPr>
                        <a:t>Primarily designed for commercial smart buildings rather than educational campuses.</a:t>
                      </a:r>
                    </a:p>
                  </a:txBody>
                  <a:tcPr/>
                </a:tc>
                <a:extLst>
                  <a:ext uri="{0D108BD9-81ED-4DB2-BD59-A6C34878D82A}">
                    <a16:rowId xmlns:a16="http://schemas.microsoft.com/office/drawing/2014/main" val="1677724808"/>
                  </a:ext>
                </a:extLst>
              </a:tr>
              <a:tr h="1335952">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lvl="0" algn="l"/>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lvl="0" algn="l"/>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242518"/>
                  </a:ext>
                </a:extLst>
              </a:tr>
            </a:tbl>
          </a:graphicData>
        </a:graphic>
      </p:graphicFrame>
    </p:spTree>
    <p:extLst>
      <p:ext uri="{BB962C8B-B14F-4D97-AF65-F5344CB8AC3E}">
        <p14:creationId xmlns:p14="http://schemas.microsoft.com/office/powerpoint/2010/main" val="3227002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1371599" y="1163132"/>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945041" y="-243677"/>
            <a:ext cx="7863518" cy="1540607"/>
            <a:chOff x="-172803" y="-412519"/>
            <a:chExt cx="10484691" cy="2054143"/>
          </a:xfrm>
        </p:grpSpPr>
        <p:sp>
          <p:nvSpPr>
            <p:cNvPr id="10" name="Freeform 10"/>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p:cNvSpPr txBox="1"/>
            <p:nvPr/>
          </p:nvSpPr>
          <p:spPr>
            <a:xfrm>
              <a:off x="-172803" y="-412519"/>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Bold"/>
                  <a:ea typeface="Times New Roman Bold"/>
                  <a:cs typeface="Times New Roman Bold"/>
                  <a:sym typeface="Times New Roman Bold"/>
                </a:rPr>
                <a:t>ARCHITECTURE</a:t>
              </a:r>
            </a:p>
          </p:txBody>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9</a:t>
              </a:r>
            </a:p>
          </p:txBody>
        </p:sp>
      </p:gr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sp>
        <p:nvSpPr>
          <p:cNvPr id="22" name="TextBox 21">
            <a:extLst>
              <a:ext uri="{FF2B5EF4-FFF2-40B4-BE49-F238E27FC236}">
                <a16:creationId xmlns:a16="http://schemas.microsoft.com/office/drawing/2014/main" id="{F0DDC046-D972-1FCB-AFF4-B5489F29F389}"/>
              </a:ext>
            </a:extLst>
          </p:cNvPr>
          <p:cNvSpPr txBox="1"/>
          <p:nvPr/>
        </p:nvSpPr>
        <p:spPr>
          <a:xfrm>
            <a:off x="3964604" y="2741310"/>
            <a:ext cx="1828800" cy="1828800"/>
          </a:xfrm>
          <a:prstGeom prst="rect">
            <a:avLst/>
          </a:prstGeom>
          <a:noFill/>
        </p:spPr>
        <p:txBody>
          <a:bodyPr wrap="square" rtlCol="0">
            <a:spAutoFit/>
          </a:bodyPr>
          <a:lstStyle/>
          <a:p>
            <a:pPr algn="l"/>
            <a:endParaRPr lang="en-US" dirty="0"/>
          </a:p>
        </p:txBody>
      </p:sp>
      <p:pic>
        <p:nvPicPr>
          <p:cNvPr id="26" name="Picture 25">
            <a:extLst>
              <a:ext uri="{FF2B5EF4-FFF2-40B4-BE49-F238E27FC236}">
                <a16:creationId xmlns:a16="http://schemas.microsoft.com/office/drawing/2014/main" id="{1C933F34-D80C-219D-8695-43A4E2AAAA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2" y="1776728"/>
            <a:ext cx="9753600" cy="4979616"/>
          </a:xfrm>
          <a:prstGeom prst="rect">
            <a:avLst/>
          </a:prstGeom>
        </p:spPr>
      </p:pic>
      <p:sp>
        <p:nvSpPr>
          <p:cNvPr id="15" name="Title 14">
            <a:extLst>
              <a:ext uri="{FF2B5EF4-FFF2-40B4-BE49-F238E27FC236}">
                <a16:creationId xmlns:a16="http://schemas.microsoft.com/office/drawing/2014/main" id="{5C4DF811-1AC5-67A8-F671-44B24C902C81}"/>
              </a:ext>
            </a:extLst>
          </p:cNvPr>
          <p:cNvSpPr>
            <a:spLocks noGrp="1"/>
          </p:cNvSpPr>
          <p:nvPr>
            <p:ph type="title"/>
          </p:nvPr>
        </p:nvSpPr>
        <p:spPr/>
        <p:txBody>
          <a:bodyPr/>
          <a:lstStyle/>
          <a:p>
            <a:endParaRPr lang="en-US"/>
          </a:p>
        </p:txBody>
      </p:sp>
      <p:sp>
        <p:nvSpPr>
          <p:cNvPr id="23" name="Picture Placeholder 22">
            <a:extLst>
              <a:ext uri="{FF2B5EF4-FFF2-40B4-BE49-F238E27FC236}">
                <a16:creationId xmlns:a16="http://schemas.microsoft.com/office/drawing/2014/main" id="{7C807680-2796-E6BC-6425-CCF9B3E597FB}"/>
              </a:ext>
            </a:extLst>
          </p:cNvPr>
          <p:cNvSpPr>
            <a:spLocks noGrp="1"/>
          </p:cNvSpPr>
          <p:nvPr>
            <p:ph type="pic" idx="1"/>
          </p:nvPr>
        </p:nvSpPr>
        <p:spPr/>
      </p:sp>
      <p:sp>
        <p:nvSpPr>
          <p:cNvPr id="24" name="Text Placeholder 23">
            <a:extLst>
              <a:ext uri="{FF2B5EF4-FFF2-40B4-BE49-F238E27FC236}">
                <a16:creationId xmlns:a16="http://schemas.microsoft.com/office/drawing/2014/main" id="{329CF309-6B17-19A1-7E6A-4406C2ECFB6A}"/>
              </a:ext>
            </a:extLst>
          </p:cNvPr>
          <p:cNvSpPr>
            <a:spLocks noGrp="1"/>
          </p:cNvSpPr>
          <p:nvPr>
            <p:ph type="body" sz="half" idx="2"/>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22F72-0D64-5C49-EB45-FF39F7BF80C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15B699-852A-DFD6-E72F-2A4D66394BD3}"/>
              </a:ext>
            </a:extLst>
          </p:cNvPr>
          <p:cNvGrpSpPr/>
          <p:nvPr/>
        </p:nvGrpSpPr>
        <p:grpSpPr>
          <a:xfrm>
            <a:off x="0" y="6827520"/>
            <a:ext cx="9753600" cy="487680"/>
            <a:chOff x="0" y="0"/>
            <a:chExt cx="13004800" cy="650240"/>
          </a:xfrm>
        </p:grpSpPr>
        <p:sp>
          <p:nvSpPr>
            <p:cNvPr id="3" name="Freeform 3">
              <a:extLst>
                <a:ext uri="{FF2B5EF4-FFF2-40B4-BE49-F238E27FC236}">
                  <a16:creationId xmlns:a16="http://schemas.microsoft.com/office/drawing/2014/main" id="{ABDE84E7-90B5-6FB2-D31D-A1A5568EA1EE}"/>
                </a:ext>
              </a:extLst>
            </p:cNvPr>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a:extLst>
              <a:ext uri="{FF2B5EF4-FFF2-40B4-BE49-F238E27FC236}">
                <a16:creationId xmlns:a16="http://schemas.microsoft.com/office/drawing/2014/main" id="{A483DFCD-9637-B509-A734-D8DDA5DFE007}"/>
              </a:ext>
            </a:extLst>
          </p:cNvPr>
          <p:cNvGrpSpPr/>
          <p:nvPr/>
        </p:nvGrpSpPr>
        <p:grpSpPr>
          <a:xfrm>
            <a:off x="0" y="6756606"/>
            <a:ext cx="9753600" cy="70399"/>
            <a:chOff x="0" y="0"/>
            <a:chExt cx="13004800" cy="93866"/>
          </a:xfrm>
        </p:grpSpPr>
        <p:sp>
          <p:nvSpPr>
            <p:cNvPr id="5" name="Freeform 5">
              <a:extLst>
                <a:ext uri="{FF2B5EF4-FFF2-40B4-BE49-F238E27FC236}">
                  <a16:creationId xmlns:a16="http://schemas.microsoft.com/office/drawing/2014/main" id="{0094C6C3-53C7-1208-B78F-9A97EF7019A2}"/>
                </a:ext>
              </a:extLst>
            </p:cNvPr>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a:extLst>
              <a:ext uri="{FF2B5EF4-FFF2-40B4-BE49-F238E27FC236}">
                <a16:creationId xmlns:a16="http://schemas.microsoft.com/office/drawing/2014/main" id="{65BFF42A-4721-0463-F0A4-5D2113F8F162}"/>
              </a:ext>
            </a:extLst>
          </p:cNvPr>
          <p:cNvSpPr/>
          <p:nvPr/>
        </p:nvSpPr>
        <p:spPr>
          <a:xfrm rot="2940" flipV="1">
            <a:off x="1241429" y="1095712"/>
            <a:ext cx="7673970" cy="6563"/>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a:extLst>
              <a:ext uri="{FF2B5EF4-FFF2-40B4-BE49-F238E27FC236}">
                <a16:creationId xmlns:a16="http://schemas.microsoft.com/office/drawing/2014/main" id="{E61822D5-BF56-065E-DC06-C4309D0BD4C8}"/>
              </a:ext>
            </a:extLst>
          </p:cNvPr>
          <p:cNvGrpSpPr/>
          <p:nvPr/>
        </p:nvGrpSpPr>
        <p:grpSpPr>
          <a:xfrm>
            <a:off x="0" y="190109"/>
            <a:ext cx="1644186" cy="1547470"/>
            <a:chOff x="0" y="0"/>
            <a:chExt cx="2192249" cy="2063293"/>
          </a:xfrm>
        </p:grpSpPr>
        <p:sp>
          <p:nvSpPr>
            <p:cNvPr id="8" name="Freeform 8">
              <a:extLst>
                <a:ext uri="{FF2B5EF4-FFF2-40B4-BE49-F238E27FC236}">
                  <a16:creationId xmlns:a16="http://schemas.microsoft.com/office/drawing/2014/main" id="{BBDDED3E-62D3-EA51-E0AB-5C32280BD385}"/>
                </a:ext>
              </a:extLst>
            </p:cNvPr>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a:extLst>
              <a:ext uri="{FF2B5EF4-FFF2-40B4-BE49-F238E27FC236}">
                <a16:creationId xmlns:a16="http://schemas.microsoft.com/office/drawing/2014/main" id="{F55A701A-5975-6DD5-D535-74F3884D817F}"/>
              </a:ext>
            </a:extLst>
          </p:cNvPr>
          <p:cNvGrpSpPr/>
          <p:nvPr/>
        </p:nvGrpSpPr>
        <p:grpSpPr>
          <a:xfrm>
            <a:off x="345608" y="-875941"/>
            <a:ext cx="8266134" cy="4364344"/>
            <a:chOff x="84808" y="-3585348"/>
            <a:chExt cx="11021513" cy="4226701"/>
          </a:xfrm>
        </p:grpSpPr>
        <p:sp>
          <p:nvSpPr>
            <p:cNvPr id="10" name="Freeform 10">
              <a:extLst>
                <a:ext uri="{FF2B5EF4-FFF2-40B4-BE49-F238E27FC236}">
                  <a16:creationId xmlns:a16="http://schemas.microsoft.com/office/drawing/2014/main" id="{A8728156-D967-FD0A-9668-C086D31379AD}"/>
                </a:ext>
              </a:extLst>
            </p:cNvPr>
            <p:cNvSpPr/>
            <p:nvPr/>
          </p:nvSpPr>
          <p:spPr>
            <a:xfrm>
              <a:off x="84808" y="-1000271"/>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a:extLst>
                <a:ext uri="{FF2B5EF4-FFF2-40B4-BE49-F238E27FC236}">
                  <a16:creationId xmlns:a16="http://schemas.microsoft.com/office/drawing/2014/main" id="{3F2309BD-91DB-1EA3-4EF8-C2607766D164}"/>
                </a:ext>
              </a:extLst>
            </p:cNvPr>
            <p:cNvSpPr txBox="1"/>
            <p:nvPr/>
          </p:nvSpPr>
          <p:spPr>
            <a:xfrm>
              <a:off x="794429" y="-3585348"/>
              <a:ext cx="10311892" cy="1603526"/>
            </a:xfrm>
            <a:prstGeom prst="rect">
              <a:avLst/>
            </a:prstGeom>
          </p:spPr>
          <p:txBody>
            <a:bodyPr lIns="0" tIns="0" rIns="0" bIns="0" rtlCol="0" anchor="b"/>
            <a:lstStyle/>
            <a:p>
              <a:pPr algn="ctr">
                <a:lnSpc>
                  <a:spcPts val="3916"/>
                </a:lnSpc>
              </a:pPr>
              <a:r>
                <a:rPr lang="en-US" sz="3840" b="1" spc="-76" dirty="0">
                  <a:solidFill>
                    <a:srgbClr val="404040"/>
                  </a:solidFill>
                  <a:latin typeface="Times New Roman Bold"/>
                  <a:ea typeface="Times New Roman Bold"/>
                  <a:cs typeface="Times New Roman Bold"/>
                  <a:sym typeface="Times New Roman Bold"/>
                </a:rPr>
                <a:t>M</a:t>
              </a:r>
              <a:r>
                <a:rPr lang="en-IN" sz="3840" b="1" spc="-76" dirty="0">
                  <a:solidFill>
                    <a:srgbClr val="404040"/>
                  </a:solidFill>
                  <a:latin typeface="Times New Roman Bold"/>
                  <a:ea typeface="Times New Roman Bold"/>
                  <a:cs typeface="Times New Roman Bold"/>
                  <a:sym typeface="Times New Roman Bold"/>
                </a:rPr>
                <a:t>ETHODOLOGY </a:t>
              </a:r>
              <a:endParaRPr lang="en-US" sz="3840" b="1" spc="-76" dirty="0">
                <a:solidFill>
                  <a:srgbClr val="404040"/>
                </a:solidFill>
                <a:latin typeface="Times New Roman Bold"/>
                <a:ea typeface="Times New Roman Bold"/>
                <a:cs typeface="Times New Roman Bold"/>
                <a:sym typeface="Times New Roman Bold"/>
              </a:endParaRPr>
            </a:p>
          </p:txBody>
        </p:sp>
      </p:grpSp>
      <p:grpSp>
        <p:nvGrpSpPr>
          <p:cNvPr id="12" name="Group 12">
            <a:extLst>
              <a:ext uri="{FF2B5EF4-FFF2-40B4-BE49-F238E27FC236}">
                <a16:creationId xmlns:a16="http://schemas.microsoft.com/office/drawing/2014/main" id="{CE5030EF-63CD-EC60-AE7E-4C7E8BBDABA5}"/>
              </a:ext>
            </a:extLst>
          </p:cNvPr>
          <p:cNvGrpSpPr/>
          <p:nvPr/>
        </p:nvGrpSpPr>
        <p:grpSpPr>
          <a:xfrm>
            <a:off x="7920371" y="6890442"/>
            <a:ext cx="1049617" cy="389467"/>
            <a:chOff x="0" y="0"/>
            <a:chExt cx="1399489" cy="519289"/>
          </a:xfrm>
        </p:grpSpPr>
        <p:sp>
          <p:nvSpPr>
            <p:cNvPr id="13" name="Freeform 13">
              <a:extLst>
                <a:ext uri="{FF2B5EF4-FFF2-40B4-BE49-F238E27FC236}">
                  <a16:creationId xmlns:a16="http://schemas.microsoft.com/office/drawing/2014/main" id="{F4AADDDF-16B7-9BE4-D758-923EFAFECF69}"/>
                </a:ext>
              </a:extLst>
            </p:cNvPr>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a:extLst>
                <a:ext uri="{FF2B5EF4-FFF2-40B4-BE49-F238E27FC236}">
                  <a16:creationId xmlns:a16="http://schemas.microsoft.com/office/drawing/2014/main" id="{9573AD2A-D315-698D-24DA-BA1763FD0BE1}"/>
                </a:ext>
              </a:extLst>
            </p:cNvPr>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10</a:t>
              </a:r>
            </a:p>
          </p:txBody>
        </p:sp>
      </p:grpSp>
      <p:grpSp>
        <p:nvGrpSpPr>
          <p:cNvPr id="16" name="Group 16">
            <a:extLst>
              <a:ext uri="{FF2B5EF4-FFF2-40B4-BE49-F238E27FC236}">
                <a16:creationId xmlns:a16="http://schemas.microsoft.com/office/drawing/2014/main" id="{9A74EDC6-0077-D6AB-9429-87ACE5E76EC2}"/>
              </a:ext>
            </a:extLst>
          </p:cNvPr>
          <p:cNvGrpSpPr/>
          <p:nvPr/>
        </p:nvGrpSpPr>
        <p:grpSpPr>
          <a:xfrm>
            <a:off x="877824" y="6890442"/>
            <a:ext cx="1977819" cy="389467"/>
            <a:chOff x="0" y="0"/>
            <a:chExt cx="2637092" cy="519289"/>
          </a:xfrm>
        </p:grpSpPr>
        <p:sp>
          <p:nvSpPr>
            <p:cNvPr id="17" name="Freeform 17">
              <a:extLst>
                <a:ext uri="{FF2B5EF4-FFF2-40B4-BE49-F238E27FC236}">
                  <a16:creationId xmlns:a16="http://schemas.microsoft.com/office/drawing/2014/main" id="{BB313B62-D70A-8017-081B-D8342276AB7D}"/>
                </a:ext>
              </a:extLst>
            </p:cNvPr>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a:extLst>
                <a:ext uri="{FF2B5EF4-FFF2-40B4-BE49-F238E27FC236}">
                  <a16:creationId xmlns:a16="http://schemas.microsoft.com/office/drawing/2014/main" id="{AD300FA5-244A-8A4F-30A7-A367280419F9}"/>
                </a:ext>
              </a:extLst>
            </p:cNvPr>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a:extLst>
              <a:ext uri="{FF2B5EF4-FFF2-40B4-BE49-F238E27FC236}">
                <a16:creationId xmlns:a16="http://schemas.microsoft.com/office/drawing/2014/main" id="{3A2372E9-6366-90E8-73B7-05CC75D4F5E1}"/>
              </a:ext>
            </a:extLst>
          </p:cNvPr>
          <p:cNvGrpSpPr/>
          <p:nvPr/>
        </p:nvGrpSpPr>
        <p:grpSpPr>
          <a:xfrm>
            <a:off x="2948950" y="6890442"/>
            <a:ext cx="3858244" cy="389467"/>
            <a:chOff x="0" y="0"/>
            <a:chExt cx="5144326" cy="519289"/>
          </a:xfrm>
        </p:grpSpPr>
        <p:sp>
          <p:nvSpPr>
            <p:cNvPr id="20" name="Freeform 20">
              <a:extLst>
                <a:ext uri="{FF2B5EF4-FFF2-40B4-BE49-F238E27FC236}">
                  <a16:creationId xmlns:a16="http://schemas.microsoft.com/office/drawing/2014/main" id="{F296AF95-59CB-C4BB-98BA-768087109B4D}"/>
                </a:ext>
              </a:extLst>
            </p:cNvPr>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a:extLst>
                <a:ext uri="{FF2B5EF4-FFF2-40B4-BE49-F238E27FC236}">
                  <a16:creationId xmlns:a16="http://schemas.microsoft.com/office/drawing/2014/main" id="{DBF32B96-39A6-014F-DCE7-685DBB664CD9}"/>
                </a:ext>
              </a:extLst>
            </p:cNvPr>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pic>
        <p:nvPicPr>
          <p:cNvPr id="22" name="Picture 21">
            <a:extLst>
              <a:ext uri="{FF2B5EF4-FFF2-40B4-BE49-F238E27FC236}">
                <a16:creationId xmlns:a16="http://schemas.microsoft.com/office/drawing/2014/main" id="{29C20AB2-F25B-C1C4-EC19-3AE6DE5629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53432" y="1112702"/>
            <a:ext cx="3252929" cy="5643380"/>
          </a:xfrm>
          <a:prstGeom prst="rect">
            <a:avLst/>
          </a:prstGeom>
        </p:spPr>
      </p:pic>
    </p:spTree>
    <p:extLst>
      <p:ext uri="{BB962C8B-B14F-4D97-AF65-F5344CB8AC3E}">
        <p14:creationId xmlns:p14="http://schemas.microsoft.com/office/powerpoint/2010/main" val="38718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txBody>
            <a:bodyPr/>
            <a:lstStyle/>
            <a:p>
              <a:endParaRPr lang="en-IN" dirty="0"/>
            </a:p>
          </p:txBody>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979979" y="64579"/>
            <a:ext cx="7733919" cy="1231219"/>
            <a:chOff x="0" y="0"/>
            <a:chExt cx="10311892" cy="1641626"/>
          </a:xfrm>
        </p:grpSpPr>
        <p:sp>
          <p:nvSpPr>
            <p:cNvPr id="10" name="Freeform 10"/>
            <p:cNvSpPr/>
            <p:nvPr/>
          </p:nvSpPr>
          <p:spPr>
            <a:xfrm>
              <a:off x="0" y="0"/>
              <a:ext cx="10311888" cy="1641624"/>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sp>
        <p:sp>
          <p:nvSpPr>
            <p:cNvPr id="11" name="TextBox 11"/>
            <p:cNvSpPr txBox="1"/>
            <p:nvPr/>
          </p:nvSpPr>
          <p:spPr>
            <a:xfrm>
              <a:off x="0" y="38100"/>
              <a:ext cx="10311892" cy="1603526"/>
            </a:xfrm>
            <a:prstGeom prst="rect">
              <a:avLst/>
            </a:prstGeom>
          </p:spPr>
          <p:txBody>
            <a:bodyPr lIns="0" tIns="0" rIns="0" bIns="0" rtlCol="0" anchor="b"/>
            <a:lstStyle/>
            <a:p>
              <a:pPr>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S</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TATUS &amp; RESULT</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sp>
        <p:nvSpPr>
          <p:cNvPr id="14" name="TextBox 14"/>
          <p:cNvSpPr txBox="1"/>
          <p:nvPr/>
        </p:nvSpPr>
        <p:spPr>
          <a:xfrm>
            <a:off x="8819005" y="6876154"/>
            <a:ext cx="1049617" cy="403755"/>
          </a:xfrm>
          <a:prstGeom prst="rect">
            <a:avLst/>
          </a:prstGeom>
        </p:spPr>
        <p:txBody>
          <a:bodyPr lIns="0" tIns="0" rIns="0" bIns="0" rtlCol="0" anchor="ctr"/>
          <a:lstStyle/>
          <a:p>
            <a:pPr>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11</a:t>
            </a:r>
          </a:p>
        </p:txBody>
      </p:sp>
      <p:sp>
        <p:nvSpPr>
          <p:cNvPr id="15" name="TextBox 15"/>
          <p:cNvSpPr txBox="1"/>
          <p:nvPr/>
        </p:nvSpPr>
        <p:spPr>
          <a:xfrm>
            <a:off x="0" y="2969059"/>
            <a:ext cx="4591850"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sp>
        <p:nvSpPr>
          <p:cNvPr id="16" name="AutoShape 16"/>
          <p:cNvSpPr/>
          <p:nvPr/>
        </p:nvSpPr>
        <p:spPr>
          <a:xfrm>
            <a:off x="4846939" y="1999757"/>
            <a:ext cx="29861" cy="4583923"/>
          </a:xfrm>
          <a:prstGeom prst="line">
            <a:avLst/>
          </a:prstGeom>
          <a:ln w="38100" cap="flat">
            <a:solidFill>
              <a:srgbClr val="000000"/>
            </a:solidFill>
            <a:prstDash val="solid"/>
            <a:headEnd type="none" w="sm" len="sm"/>
            <a:tailEnd type="none" w="sm" len="sm"/>
          </a:ln>
        </p:spPr>
        <p:txBody>
          <a:bodyPr/>
          <a:lstStyle/>
          <a:p>
            <a:endParaRPr>
              <a:latin typeface="Times New Roman" panose="02020603050405020304" pitchFamily="18" charset="0"/>
              <a:cs typeface="Times New Roman" panose="02020603050405020304" pitchFamily="18" charset="0"/>
            </a:endParaRPr>
          </a:p>
        </p:txBody>
      </p:sp>
      <p:sp>
        <p:nvSpPr>
          <p:cNvPr id="18" name="TextBox 18"/>
          <p:cNvSpPr txBox="1"/>
          <p:nvPr/>
        </p:nvSpPr>
        <p:spPr>
          <a:xfrm>
            <a:off x="5053694" y="2969059"/>
            <a:ext cx="4424052" cy="276999"/>
          </a:xfrm>
          <a:prstGeom prst="rect">
            <a:avLst/>
          </a:prstGeom>
        </p:spPr>
        <p:txBody>
          <a:bodyPr lIns="0" tIns="0" rIns="0" bIns="0" rtlCol="0" anchor="t">
            <a:spAutoFit/>
          </a:bodyPr>
          <a:lstStyle/>
          <a:p>
            <a:endParaRPr>
              <a:latin typeface="Times New Roman" panose="02020603050405020304" pitchFamily="18" charset="0"/>
              <a:cs typeface="Times New Roman" panose="02020603050405020304" pitchFamily="18" charset="0"/>
            </a:endParaRPr>
          </a:p>
        </p:txBody>
      </p:sp>
      <p:sp>
        <p:nvSpPr>
          <p:cNvPr id="19" name="TextBox 19"/>
          <p:cNvSpPr txBox="1"/>
          <p:nvPr/>
        </p:nvSpPr>
        <p:spPr>
          <a:xfrm>
            <a:off x="5084174" y="2014138"/>
            <a:ext cx="4618163" cy="830997"/>
          </a:xfrm>
          <a:prstGeom prst="rect">
            <a:avLst/>
          </a:prstGeom>
        </p:spPr>
        <p:txBody>
          <a:bodyPr wrap="square" lIns="0" tIns="0" rIns="0" bIns="0" rtlCol="0" anchor="t">
            <a:spAutoFit/>
          </a:bodyPr>
          <a:lstStyle/>
          <a:p>
            <a:r>
              <a:rPr lang="en-US" dirty="0">
                <a:latin typeface="Times New Roman" panose="02020603050405020304" pitchFamily="18" charset="0"/>
                <a:cs typeface="Times New Roman" panose="02020603050405020304" pitchFamily="18" charset="0"/>
              </a:rPr>
              <a:t>• The system successfully analyzes campus electricity consumption using Big Data technologies.</a:t>
            </a:r>
            <a:endParaRPr dirty="0">
              <a:latin typeface="Times New Roman" panose="02020603050405020304" pitchFamily="18" charset="0"/>
              <a:cs typeface="Times New Roman" panose="02020603050405020304" pitchFamily="18" charset="0"/>
            </a:endParaRPr>
          </a:p>
        </p:txBody>
      </p:sp>
      <p:grpSp>
        <p:nvGrpSpPr>
          <p:cNvPr id="20" name="Group 20"/>
          <p:cNvGrpSpPr/>
          <p:nvPr/>
        </p:nvGrpSpPr>
        <p:grpSpPr>
          <a:xfrm>
            <a:off x="877824" y="6890442"/>
            <a:ext cx="1977819" cy="389467"/>
            <a:chOff x="0" y="0"/>
            <a:chExt cx="2637092" cy="519289"/>
          </a:xfrm>
        </p:grpSpPr>
        <p:sp>
          <p:nvSpPr>
            <p:cNvPr id="21" name="Freeform 21"/>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22" name="TextBox 22"/>
            <p:cNvSpPr txBox="1"/>
            <p:nvPr/>
          </p:nvSpPr>
          <p:spPr>
            <a:xfrm>
              <a:off x="0" y="-9525"/>
              <a:ext cx="2637092" cy="528814"/>
            </a:xfrm>
            <a:prstGeom prst="rect">
              <a:avLst/>
            </a:prstGeom>
          </p:spPr>
          <p:txBody>
            <a:bodyPr lIns="0" tIns="0" rIns="0" bIns="0" rtlCol="0" anchor="ctr"/>
            <a:lstStyle/>
            <a:p>
              <a:pP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23" name="Group 23"/>
          <p:cNvGrpSpPr/>
          <p:nvPr/>
        </p:nvGrpSpPr>
        <p:grpSpPr>
          <a:xfrm>
            <a:off x="2948950" y="6890442"/>
            <a:ext cx="3858244" cy="389467"/>
            <a:chOff x="0" y="0"/>
            <a:chExt cx="5144326" cy="519289"/>
          </a:xfrm>
        </p:grpSpPr>
        <p:sp>
          <p:nvSpPr>
            <p:cNvPr id="24" name="Freeform 24"/>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5" name="TextBox 25"/>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7" name="TextBox 26">
            <a:extLst>
              <a:ext uri="{FF2B5EF4-FFF2-40B4-BE49-F238E27FC236}">
                <a16:creationId xmlns:a16="http://schemas.microsoft.com/office/drawing/2014/main" id="{7A597AB6-C1E3-30CE-382D-8C9F956459B4}"/>
              </a:ext>
            </a:extLst>
          </p:cNvPr>
          <p:cNvSpPr txBox="1"/>
          <p:nvPr/>
        </p:nvSpPr>
        <p:spPr>
          <a:xfrm>
            <a:off x="301188" y="2014138"/>
            <a:ext cx="4879004"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Raw electricity consumption data has been collected and stored in HDFS.</a:t>
            </a:r>
          </a:p>
        </p:txBody>
      </p:sp>
      <p:sp>
        <p:nvSpPr>
          <p:cNvPr id="29" name="TextBox 28">
            <a:extLst>
              <a:ext uri="{FF2B5EF4-FFF2-40B4-BE49-F238E27FC236}">
                <a16:creationId xmlns:a16="http://schemas.microsoft.com/office/drawing/2014/main" id="{000C0213-3BF1-88EF-2556-D97214088AFA}"/>
              </a:ext>
            </a:extLst>
          </p:cNvPr>
          <p:cNvSpPr txBox="1"/>
          <p:nvPr/>
        </p:nvSpPr>
        <p:spPr>
          <a:xfrm>
            <a:off x="275854" y="2663720"/>
            <a:ext cx="4879004"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data has been organized using Hive for efficient SQL-based querying.</a:t>
            </a:r>
          </a:p>
        </p:txBody>
      </p:sp>
      <p:sp>
        <p:nvSpPr>
          <p:cNvPr id="33" name="TextBox 32">
            <a:extLst>
              <a:ext uri="{FF2B5EF4-FFF2-40B4-BE49-F238E27FC236}">
                <a16:creationId xmlns:a16="http://schemas.microsoft.com/office/drawing/2014/main" id="{364FA766-A383-97D8-B4E6-37BE3C9CE508}"/>
              </a:ext>
            </a:extLst>
          </p:cNvPr>
          <p:cNvSpPr txBox="1"/>
          <p:nvPr/>
        </p:nvSpPr>
        <p:spPr>
          <a:xfrm>
            <a:off x="275854" y="3234852"/>
            <a:ext cx="4340106"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•Apache Spark has been used to analyze electricity usage, identify peak hours, block-wise consumption, and detect energy wastage.</a:t>
            </a:r>
          </a:p>
        </p:txBody>
      </p:sp>
      <p:sp>
        <p:nvSpPr>
          <p:cNvPr id="35" name="TextBox 34">
            <a:extLst>
              <a:ext uri="{FF2B5EF4-FFF2-40B4-BE49-F238E27FC236}">
                <a16:creationId xmlns:a16="http://schemas.microsoft.com/office/drawing/2014/main" id="{784140C6-1823-A4CC-D36C-7B269C081E6D}"/>
              </a:ext>
            </a:extLst>
          </p:cNvPr>
          <p:cNvSpPr txBox="1"/>
          <p:nvPr/>
        </p:nvSpPr>
        <p:spPr>
          <a:xfrm>
            <a:off x="300111" y="4407749"/>
            <a:ext cx="4879004" cy="646331"/>
          </a:xfrm>
          <a:prstGeom prst="rect">
            <a:avLst/>
          </a:prstGeom>
          <a:noFill/>
        </p:spPr>
        <p:txBody>
          <a:bodyPr wrap="square" anchor="t">
            <a:spAutoFit/>
          </a:bodyPr>
          <a:lstStyle/>
          <a:p>
            <a:r>
              <a:rPr lang="en-US" dirty="0">
                <a:latin typeface="Times New Roman" panose="02020603050405020304" pitchFamily="18" charset="0"/>
                <a:cs typeface="Times New Roman" panose="02020603050405020304" pitchFamily="18" charset="0"/>
              </a:rPr>
              <a:t>• The processed results have been stored in MySQL.</a:t>
            </a:r>
          </a:p>
        </p:txBody>
      </p:sp>
      <p:sp>
        <p:nvSpPr>
          <p:cNvPr id="37" name="TextBox 36">
            <a:extLst>
              <a:ext uri="{FF2B5EF4-FFF2-40B4-BE49-F238E27FC236}">
                <a16:creationId xmlns:a16="http://schemas.microsoft.com/office/drawing/2014/main" id="{E343808B-994E-73AA-C062-F3BAEB2EE268}"/>
              </a:ext>
            </a:extLst>
          </p:cNvPr>
          <p:cNvSpPr txBox="1"/>
          <p:nvPr/>
        </p:nvSpPr>
        <p:spPr>
          <a:xfrm>
            <a:off x="309777" y="4950878"/>
            <a:ext cx="487900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A Flask/React web application and Power BI dashboard have been developed to display the analysis in a user-friendly manner.</a:t>
            </a:r>
          </a:p>
        </p:txBody>
      </p:sp>
      <p:sp>
        <p:nvSpPr>
          <p:cNvPr id="39" name="TextBox 38">
            <a:extLst>
              <a:ext uri="{FF2B5EF4-FFF2-40B4-BE49-F238E27FC236}">
                <a16:creationId xmlns:a16="http://schemas.microsoft.com/office/drawing/2014/main" id="{00B4F371-76E0-B516-2584-DE8FB72942C9}"/>
              </a:ext>
            </a:extLst>
          </p:cNvPr>
          <p:cNvSpPr txBox="1"/>
          <p:nvPr/>
        </p:nvSpPr>
        <p:spPr>
          <a:xfrm>
            <a:off x="275854" y="5806263"/>
            <a:ext cx="4879004"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system has been tested successfully using sample campus electricity data.</a:t>
            </a:r>
          </a:p>
        </p:txBody>
      </p:sp>
      <p:sp>
        <p:nvSpPr>
          <p:cNvPr id="41" name="TextBox 40">
            <a:extLst>
              <a:ext uri="{FF2B5EF4-FFF2-40B4-BE49-F238E27FC236}">
                <a16:creationId xmlns:a16="http://schemas.microsoft.com/office/drawing/2014/main" id="{9E65783B-C9CC-207E-88EC-370BD63629CF}"/>
              </a:ext>
            </a:extLst>
          </p:cNvPr>
          <p:cNvSpPr txBox="1"/>
          <p:nvPr/>
        </p:nvSpPr>
        <p:spPr>
          <a:xfrm>
            <a:off x="4989618" y="2966771"/>
            <a:ext cx="487900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It identifies peak usage hours, block-wise energy consumption, and areas of possible energy wastage.</a:t>
            </a:r>
          </a:p>
        </p:txBody>
      </p:sp>
      <p:sp>
        <p:nvSpPr>
          <p:cNvPr id="43" name="TextBox 42">
            <a:extLst>
              <a:ext uri="{FF2B5EF4-FFF2-40B4-BE49-F238E27FC236}">
                <a16:creationId xmlns:a16="http://schemas.microsoft.com/office/drawing/2014/main" id="{3D0375FF-E725-B8D2-7459-1B72B39F2400}"/>
              </a:ext>
            </a:extLst>
          </p:cNvPr>
          <p:cNvSpPr txBox="1"/>
          <p:nvPr/>
        </p:nvSpPr>
        <p:spPr>
          <a:xfrm>
            <a:off x="4989618" y="3882091"/>
            <a:ext cx="4959296"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interactive web application and Power BI dashboard provide clear visual reports for easy monitoring.</a:t>
            </a:r>
          </a:p>
        </p:txBody>
      </p:sp>
      <p:sp>
        <p:nvSpPr>
          <p:cNvPr id="47" name="TextBox 46">
            <a:extLst>
              <a:ext uri="{FF2B5EF4-FFF2-40B4-BE49-F238E27FC236}">
                <a16:creationId xmlns:a16="http://schemas.microsoft.com/office/drawing/2014/main" id="{47019A9D-327D-63DD-65F7-B73E8E18F097}"/>
              </a:ext>
            </a:extLst>
          </p:cNvPr>
          <p:cNvSpPr txBox="1"/>
          <p:nvPr/>
        </p:nvSpPr>
        <p:spPr>
          <a:xfrm>
            <a:off x="4989618" y="4796320"/>
            <a:ext cx="4252841" cy="147732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The project enables campus administrators to make informed decisions for better energy management, optimize electricity usage, and reduce unnecessary power consumption.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12</a:t>
              </a:r>
            </a:p>
          </p:txBody>
        </p:sp>
      </p:grpSp>
      <p:sp>
        <p:nvSpPr>
          <p:cNvPr id="15" name="TextBox 15"/>
          <p:cNvSpPr txBox="1"/>
          <p:nvPr/>
        </p:nvSpPr>
        <p:spPr>
          <a:xfrm>
            <a:off x="323674" y="2109523"/>
            <a:ext cx="9106253" cy="1765676"/>
          </a:xfrm>
          <a:prstGeom prst="rect">
            <a:avLst/>
          </a:prstGeom>
        </p:spPr>
        <p:txBody>
          <a:bodyPr lIns="0" tIns="0" rIns="0" bIns="0" rtlCol="0" anchor="t">
            <a:spAutoFit/>
          </a:bodyPr>
          <a:lstStyle/>
          <a:p>
            <a:endParaRPr/>
          </a:p>
        </p:txBody>
      </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pic>
        <p:nvPicPr>
          <p:cNvPr id="22" name="Picture 21">
            <a:extLst>
              <a:ext uri="{FF2B5EF4-FFF2-40B4-BE49-F238E27FC236}">
                <a16:creationId xmlns:a16="http://schemas.microsoft.com/office/drawing/2014/main" id="{B63DE680-8676-B7AB-FA77-15561F1DFF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0029" y="2079607"/>
            <a:ext cx="6502400" cy="4334933"/>
          </a:xfrm>
          <a:prstGeom prst="rect">
            <a:avLst/>
          </a:prstGeom>
        </p:spPr>
      </p:pic>
      <p:sp>
        <p:nvSpPr>
          <p:cNvPr id="24" name="TextBox 23">
            <a:extLst>
              <a:ext uri="{FF2B5EF4-FFF2-40B4-BE49-F238E27FC236}">
                <a16:creationId xmlns:a16="http://schemas.microsoft.com/office/drawing/2014/main" id="{89466EBE-F878-8DB0-7677-60A53AA755E8}"/>
              </a:ext>
            </a:extLst>
          </p:cNvPr>
          <p:cNvSpPr txBox="1"/>
          <p:nvPr/>
        </p:nvSpPr>
        <p:spPr>
          <a:xfrm>
            <a:off x="3322822" y="715994"/>
            <a:ext cx="5647166" cy="369332"/>
          </a:xfrm>
          <a:prstGeom prst="rect">
            <a:avLst/>
          </a:prstGeom>
          <a:noFill/>
        </p:spPr>
        <p:txBody>
          <a:bodyPr wrap="square">
            <a:spAutoFit/>
          </a:bodyPr>
          <a:lstStyle/>
          <a:p>
            <a:r>
              <a:rPr lang="en-US" dirty="0"/>
              <a:t>Use case diagram</a:t>
            </a:r>
          </a:p>
        </p:txBody>
      </p:sp>
    </p:spTree>
    <p:extLst>
      <p:ext uri="{BB962C8B-B14F-4D97-AF65-F5344CB8AC3E}">
        <p14:creationId xmlns:p14="http://schemas.microsoft.com/office/powerpoint/2010/main" val="1470662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13</a:t>
              </a:r>
            </a:p>
          </p:txBody>
        </p:sp>
      </p:grpSp>
      <p:sp>
        <p:nvSpPr>
          <p:cNvPr id="15" name="TextBox 15"/>
          <p:cNvSpPr txBox="1"/>
          <p:nvPr/>
        </p:nvSpPr>
        <p:spPr>
          <a:xfrm>
            <a:off x="323674" y="2109523"/>
            <a:ext cx="9106253" cy="1765676"/>
          </a:xfrm>
          <a:prstGeom prst="rect">
            <a:avLst/>
          </a:prstGeom>
        </p:spPr>
        <p:txBody>
          <a:bodyPr lIns="0" tIns="0" rIns="0" bIns="0" rtlCol="0" anchor="t">
            <a:spAutoFit/>
          </a:bodyPr>
          <a:lstStyle/>
          <a:p>
            <a:endParaRPr/>
          </a:p>
        </p:txBody>
      </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pic>
        <p:nvPicPr>
          <p:cNvPr id="9" name="Picture 8">
            <a:extLst>
              <a:ext uri="{FF2B5EF4-FFF2-40B4-BE49-F238E27FC236}">
                <a16:creationId xmlns:a16="http://schemas.microsoft.com/office/drawing/2014/main" id="{B688A287-80B5-49FC-7B88-6DD8266B36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5600" y="2109523"/>
            <a:ext cx="6502400" cy="4334933"/>
          </a:xfrm>
          <a:prstGeom prst="rect">
            <a:avLst/>
          </a:prstGeom>
        </p:spPr>
      </p:pic>
      <p:sp>
        <p:nvSpPr>
          <p:cNvPr id="11" name="TextBox 10">
            <a:extLst>
              <a:ext uri="{FF2B5EF4-FFF2-40B4-BE49-F238E27FC236}">
                <a16:creationId xmlns:a16="http://schemas.microsoft.com/office/drawing/2014/main" id="{39D5EF43-6334-D814-4C98-4EFD2740AC53}"/>
              </a:ext>
            </a:extLst>
          </p:cNvPr>
          <p:cNvSpPr txBox="1"/>
          <p:nvPr/>
        </p:nvSpPr>
        <p:spPr>
          <a:xfrm>
            <a:off x="3318006" y="870744"/>
            <a:ext cx="4879004" cy="369332"/>
          </a:xfrm>
          <a:prstGeom prst="rect">
            <a:avLst/>
          </a:prstGeom>
          <a:noFill/>
        </p:spPr>
        <p:txBody>
          <a:bodyPr wrap="square">
            <a:spAutoFit/>
          </a:bodyPr>
          <a:lstStyle/>
          <a:p>
            <a:r>
              <a:rPr lang="en-US" dirty="0"/>
              <a:t>Sequence diagram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14</a:t>
              </a:r>
            </a:p>
          </p:txBody>
        </p:sp>
      </p:gr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pic>
        <p:nvPicPr>
          <p:cNvPr id="9" name="Picture 8">
            <a:extLst>
              <a:ext uri="{FF2B5EF4-FFF2-40B4-BE49-F238E27FC236}">
                <a16:creationId xmlns:a16="http://schemas.microsoft.com/office/drawing/2014/main" id="{8691E5A3-CBDB-0938-5C05-8D5D188F7C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146" y="2018342"/>
            <a:ext cx="8685308" cy="4342654"/>
          </a:xfrm>
          <a:prstGeom prst="rect">
            <a:avLst/>
          </a:prstGeom>
        </p:spPr>
      </p:pic>
      <p:sp>
        <p:nvSpPr>
          <p:cNvPr id="11" name="TextBox 10">
            <a:extLst>
              <a:ext uri="{FF2B5EF4-FFF2-40B4-BE49-F238E27FC236}">
                <a16:creationId xmlns:a16="http://schemas.microsoft.com/office/drawing/2014/main" id="{5C105EF1-4055-D052-00F6-E741B37B0C5D}"/>
              </a:ext>
            </a:extLst>
          </p:cNvPr>
          <p:cNvSpPr txBox="1"/>
          <p:nvPr/>
        </p:nvSpPr>
        <p:spPr>
          <a:xfrm>
            <a:off x="3882420" y="769538"/>
            <a:ext cx="5592083" cy="369332"/>
          </a:xfrm>
          <a:prstGeom prst="rect">
            <a:avLst/>
          </a:prstGeom>
          <a:noFill/>
        </p:spPr>
        <p:txBody>
          <a:bodyPr wrap="square">
            <a:spAutoFit/>
          </a:bodyPr>
          <a:lstStyle/>
          <a:p>
            <a:pPr rtl="0">
              <a:buNone/>
            </a:pPr>
            <a:r>
              <a:rPr lang="en-US" b="1" dirty="0"/>
              <a:t>ROADMAP</a:t>
            </a:r>
            <a:endParaRPr lang="en-US" dirty="0"/>
          </a:p>
        </p:txBody>
      </p:sp>
    </p:spTree>
    <p:extLst>
      <p:ext uri="{BB962C8B-B14F-4D97-AF65-F5344CB8AC3E}">
        <p14:creationId xmlns:p14="http://schemas.microsoft.com/office/powerpoint/2010/main" val="3322980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7920371" y="6890442"/>
            <a:ext cx="1049617" cy="389467"/>
            <a:chOff x="0" y="0"/>
            <a:chExt cx="1399489" cy="519289"/>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15</a:t>
              </a:r>
            </a:p>
          </p:txBody>
        </p:sp>
      </p:grpSp>
      <p:sp>
        <p:nvSpPr>
          <p:cNvPr id="15" name="TextBox 15"/>
          <p:cNvSpPr txBox="1"/>
          <p:nvPr/>
        </p:nvSpPr>
        <p:spPr>
          <a:xfrm>
            <a:off x="1452950" y="115742"/>
            <a:ext cx="9106253" cy="1765676"/>
          </a:xfrm>
          <a:prstGeom prst="rect">
            <a:avLst/>
          </a:prstGeom>
        </p:spPr>
        <p:txBody>
          <a:bodyPr lIns="0" tIns="0" rIns="0" bIns="0" rtlCol="0" anchor="t">
            <a:spAutoFit/>
          </a:bodyPr>
          <a:lstStyle/>
          <a:p>
            <a:endParaRPr/>
          </a:p>
        </p:txBody>
      </p:sp>
      <p:grpSp>
        <p:nvGrpSpPr>
          <p:cNvPr id="16" name="Group 16"/>
          <p:cNvGrpSpPr/>
          <p:nvPr/>
        </p:nvGrpSpPr>
        <p:grpSpPr>
          <a:xfrm>
            <a:off x="877824" y="6890442"/>
            <a:ext cx="1977819" cy="389467"/>
            <a:chOff x="0" y="0"/>
            <a:chExt cx="2637092" cy="519289"/>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sp>
        <p:nvSpPr>
          <p:cNvPr id="27" name="TextBox 26">
            <a:extLst>
              <a:ext uri="{FF2B5EF4-FFF2-40B4-BE49-F238E27FC236}">
                <a16:creationId xmlns:a16="http://schemas.microsoft.com/office/drawing/2014/main" id="{0DF997B4-2197-9813-108C-DDBAD5CACE17}"/>
              </a:ext>
            </a:extLst>
          </p:cNvPr>
          <p:cNvSpPr txBox="1"/>
          <p:nvPr/>
        </p:nvSpPr>
        <p:spPr>
          <a:xfrm>
            <a:off x="2948950" y="627660"/>
            <a:ext cx="11130397" cy="369332"/>
          </a:xfrm>
          <a:prstGeom prst="rect">
            <a:avLst/>
          </a:prstGeom>
          <a:noFill/>
        </p:spPr>
        <p:txBody>
          <a:bodyPr wrap="square">
            <a:spAutoFit/>
          </a:bodyPr>
          <a:lstStyle/>
          <a:p>
            <a:r>
              <a:rPr lang="en-US" dirty="0"/>
              <a:t>PROBLEM STATEMENT</a:t>
            </a:r>
          </a:p>
        </p:txBody>
      </p:sp>
      <p:sp>
        <p:nvSpPr>
          <p:cNvPr id="29" name="TextBox 28">
            <a:extLst>
              <a:ext uri="{FF2B5EF4-FFF2-40B4-BE49-F238E27FC236}">
                <a16:creationId xmlns:a16="http://schemas.microsoft.com/office/drawing/2014/main" id="{C1E3810F-7E9A-3E12-1AE3-D735E190D32D}"/>
              </a:ext>
            </a:extLst>
          </p:cNvPr>
          <p:cNvSpPr txBox="1"/>
          <p:nvPr/>
        </p:nvSpPr>
        <p:spPr>
          <a:xfrm>
            <a:off x="951434" y="2538802"/>
            <a:ext cx="7037478" cy="646331"/>
          </a:xfrm>
          <a:prstGeom prst="rect">
            <a:avLst/>
          </a:prstGeom>
          <a:noFill/>
        </p:spPr>
        <p:txBody>
          <a:bodyPr wrap="square">
            <a:spAutoFit/>
          </a:bodyPr>
          <a:lstStyle/>
          <a:p>
            <a:r>
              <a:rPr lang="en-US" dirty="0"/>
              <a:t>•Educational institutions consume large amounts of electricity across classrooms, laboratories, libraries, hostels, and other facilities.</a:t>
            </a:r>
          </a:p>
        </p:txBody>
      </p:sp>
      <p:sp>
        <p:nvSpPr>
          <p:cNvPr id="31" name="TextBox 30">
            <a:extLst>
              <a:ext uri="{FF2B5EF4-FFF2-40B4-BE49-F238E27FC236}">
                <a16:creationId xmlns:a16="http://schemas.microsoft.com/office/drawing/2014/main" id="{88C35639-14DD-522D-FABF-A5710AF4FC2A}"/>
              </a:ext>
            </a:extLst>
          </p:cNvPr>
          <p:cNvSpPr txBox="1"/>
          <p:nvPr/>
        </p:nvSpPr>
        <p:spPr>
          <a:xfrm>
            <a:off x="951434" y="3205030"/>
            <a:ext cx="7037478" cy="923330"/>
          </a:xfrm>
          <a:prstGeom prst="rect">
            <a:avLst/>
          </a:prstGeom>
          <a:noFill/>
        </p:spPr>
        <p:txBody>
          <a:bodyPr wrap="square">
            <a:spAutoFit/>
          </a:bodyPr>
          <a:lstStyle/>
          <a:p>
            <a:r>
              <a:rPr lang="en-US" dirty="0"/>
              <a:t>•Existing methods of monitoring electricity consumption are often manual, time-consuming, and difficult to manage for large amounts of data.</a:t>
            </a:r>
          </a:p>
        </p:txBody>
      </p:sp>
      <p:sp>
        <p:nvSpPr>
          <p:cNvPr id="33" name="TextBox 32">
            <a:extLst>
              <a:ext uri="{FF2B5EF4-FFF2-40B4-BE49-F238E27FC236}">
                <a16:creationId xmlns:a16="http://schemas.microsoft.com/office/drawing/2014/main" id="{56B85E3B-A913-D863-1401-1939C42AD496}"/>
              </a:ext>
            </a:extLst>
          </p:cNvPr>
          <p:cNvSpPr txBox="1"/>
          <p:nvPr/>
        </p:nvSpPr>
        <p:spPr>
          <a:xfrm>
            <a:off x="951434" y="4043952"/>
            <a:ext cx="7037478" cy="646331"/>
          </a:xfrm>
          <a:prstGeom prst="rect">
            <a:avLst/>
          </a:prstGeom>
          <a:noFill/>
        </p:spPr>
        <p:txBody>
          <a:bodyPr wrap="square">
            <a:spAutoFit/>
          </a:bodyPr>
          <a:lstStyle/>
          <a:p>
            <a:r>
              <a:rPr lang="en-US" dirty="0"/>
              <a:t>•It is difficult to identify high-consumption areas, peak usage periods, and energy wastage from raw electricity data.</a:t>
            </a:r>
          </a:p>
        </p:txBody>
      </p:sp>
      <p:sp>
        <p:nvSpPr>
          <p:cNvPr id="35" name="TextBox 34">
            <a:extLst>
              <a:ext uri="{FF2B5EF4-FFF2-40B4-BE49-F238E27FC236}">
                <a16:creationId xmlns:a16="http://schemas.microsoft.com/office/drawing/2014/main" id="{024EDED2-28AD-13B1-A127-A2075825BEB6}"/>
              </a:ext>
            </a:extLst>
          </p:cNvPr>
          <p:cNvSpPr txBox="1"/>
          <p:nvPr/>
        </p:nvSpPr>
        <p:spPr>
          <a:xfrm>
            <a:off x="951434" y="4662683"/>
            <a:ext cx="7037478" cy="646331"/>
          </a:xfrm>
          <a:prstGeom prst="rect">
            <a:avLst/>
          </a:prstGeom>
          <a:noFill/>
        </p:spPr>
        <p:txBody>
          <a:bodyPr wrap="square">
            <a:spAutoFit/>
          </a:bodyPr>
          <a:lstStyle/>
          <a:p>
            <a:r>
              <a:rPr lang="en-US" dirty="0"/>
              <a:t>• There is a need for a scalable system that can collect, store, process, and analyze large-scale campus energy data efficiently.</a:t>
            </a:r>
          </a:p>
        </p:txBody>
      </p:sp>
      <p:sp>
        <p:nvSpPr>
          <p:cNvPr id="37" name="TextBox 36">
            <a:extLst>
              <a:ext uri="{FF2B5EF4-FFF2-40B4-BE49-F238E27FC236}">
                <a16:creationId xmlns:a16="http://schemas.microsoft.com/office/drawing/2014/main" id="{B2D3D48C-394C-E64A-AABB-9AEE5096BD70}"/>
              </a:ext>
            </a:extLst>
          </p:cNvPr>
          <p:cNvSpPr txBox="1"/>
          <p:nvPr/>
        </p:nvSpPr>
        <p:spPr>
          <a:xfrm>
            <a:off x="951434" y="5281414"/>
            <a:ext cx="7673021" cy="646331"/>
          </a:xfrm>
          <a:prstGeom prst="rect">
            <a:avLst/>
          </a:prstGeom>
          <a:noFill/>
        </p:spPr>
        <p:txBody>
          <a:bodyPr wrap="square">
            <a:spAutoFit/>
          </a:bodyPr>
          <a:lstStyle/>
          <a:p>
            <a:r>
              <a:rPr lang="en-US" dirty="0"/>
              <a:t>•Therefore, a Big Data-based system is required to provide clear insights for monitoring and optimizing campus energy consumption.</a:t>
            </a:r>
          </a:p>
        </p:txBody>
      </p:sp>
    </p:spTree>
    <p:extLst>
      <p:ext uri="{BB962C8B-B14F-4D97-AF65-F5344CB8AC3E}">
        <p14:creationId xmlns:p14="http://schemas.microsoft.com/office/powerpoint/2010/main" val="163563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pPr algn="just"/>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1074643" y="82127"/>
            <a:ext cx="7742166" cy="1231219"/>
            <a:chOff x="0" y="0"/>
            <a:chExt cx="10322888" cy="1641626"/>
          </a:xfrm>
        </p:grpSpPr>
        <p:sp>
          <p:nvSpPr>
            <p:cNvPr id="10" name="Freeform 10"/>
            <p:cNvSpPr/>
            <p:nvPr/>
          </p:nvSpPr>
          <p:spPr>
            <a:xfrm>
              <a:off x="11000" y="0"/>
              <a:ext cx="10311888" cy="1641625"/>
            </a:xfrm>
            <a:custGeom>
              <a:avLst/>
              <a:gdLst/>
              <a:ahLst/>
              <a:cxnLst/>
              <a:rect l="l" t="t" r="r" b="b"/>
              <a:pathLst>
                <a:path w="10311888" h="1641624">
                  <a:moveTo>
                    <a:pt x="0" y="0"/>
                  </a:moveTo>
                  <a:lnTo>
                    <a:pt x="10311888" y="0"/>
                  </a:lnTo>
                  <a:lnTo>
                    <a:pt x="10311888" y="1641624"/>
                  </a:lnTo>
                  <a:lnTo>
                    <a:pt x="0" y="1641624"/>
                  </a:lnTo>
                  <a:close/>
                </a:path>
              </a:pathLst>
            </a:custGeom>
            <a:blipFill>
              <a:blip r:embed="rId3">
                <a:alphaModFix amt="0"/>
              </a:blip>
              <a:stretch>
                <a:fillRect t="-72395" b="-72395"/>
              </a:stretch>
            </a:blipFill>
          </p:spPr>
          <p:txBody>
            <a:bodyPr/>
            <a:lstStyle/>
            <a:p>
              <a:endParaRPr lang="en-IN" dirty="0"/>
            </a:p>
          </p:txBody>
        </p:sp>
        <p:sp>
          <p:nvSpPr>
            <p:cNvPr id="11" name="TextBox 11"/>
            <p:cNvSpPr txBox="1"/>
            <p:nvPr/>
          </p:nvSpPr>
          <p:spPr>
            <a:xfrm>
              <a:off x="0" y="38100"/>
              <a:ext cx="10311892" cy="1603526"/>
            </a:xfrm>
            <a:prstGeom prst="rect">
              <a:avLst/>
            </a:prstGeom>
          </p:spPr>
          <p:txBody>
            <a:bodyPr lIns="0" tIns="0" rIns="0" bIns="0" rtlCol="0" anchor="b"/>
            <a:lstStyle/>
            <a:p>
              <a:pPr algn="just">
                <a:lnSpc>
                  <a:spcPts val="3916"/>
                </a:lnSpc>
              </a:pPr>
              <a:r>
                <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                  C</a:t>
              </a:r>
              <a:r>
                <a:rPr lang="en-IN"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rPr>
                <a:t>ONCLUSION </a:t>
              </a:r>
              <a:endParaRPr lang="en-US" sz="3840" b="1" spc="-76" dirty="0">
                <a:solidFill>
                  <a:srgbClr val="404040"/>
                </a:solidFill>
                <a:latin typeface="Times New Roman" panose="02020603050405020304" pitchFamily="18" charset="0"/>
                <a:ea typeface="Times New Roman Bold"/>
                <a:cs typeface="Times New Roman" panose="02020603050405020304" pitchFamily="18" charset="0"/>
                <a:sym typeface="Times New Roman Bold"/>
              </a:endParaRPr>
            </a:p>
          </p:txBody>
        </p:sp>
      </p:grpSp>
      <p:grpSp>
        <p:nvGrpSpPr>
          <p:cNvPr id="12" name="Group 12"/>
          <p:cNvGrpSpPr/>
          <p:nvPr/>
        </p:nvGrpSpPr>
        <p:grpSpPr>
          <a:xfrm>
            <a:off x="8816809" y="6870899"/>
            <a:ext cx="1108588" cy="416154"/>
            <a:chOff x="-78623" y="0"/>
            <a:chExt cx="1478117" cy="554872"/>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78623" y="16532"/>
              <a:ext cx="1399489" cy="538340"/>
            </a:xfrm>
            <a:prstGeom prst="rect">
              <a:avLst/>
            </a:prstGeom>
          </p:spPr>
          <p:txBody>
            <a:bodyPr lIns="0" tIns="0" rIns="0" bIns="0" rtlCol="0" anchor="ctr"/>
            <a:lstStyle/>
            <a:p>
              <a:pPr algn="just">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16</a:t>
              </a:r>
            </a:p>
          </p:txBody>
        </p:sp>
      </p:grpSp>
      <p:sp>
        <p:nvSpPr>
          <p:cNvPr id="15" name="TextBox 15"/>
          <p:cNvSpPr txBox="1"/>
          <p:nvPr/>
        </p:nvSpPr>
        <p:spPr>
          <a:xfrm>
            <a:off x="1338990" y="1909498"/>
            <a:ext cx="7850731" cy="276999"/>
          </a:xfrm>
          <a:prstGeom prst="rect">
            <a:avLst/>
          </a:prstGeom>
        </p:spPr>
        <p:txBody>
          <a:bodyPr lIns="0" tIns="0" rIns="0" bIns="0" rtlCol="0" anchor="t">
            <a:spAutoFit/>
          </a:bodyPr>
          <a:lstStyle/>
          <a:p>
            <a:pPr algn="just"/>
            <a:endParaRPr>
              <a:latin typeface="Times New Roman" panose="02020603050405020304" pitchFamily="18" charset="0"/>
              <a:cs typeface="Times New Roman" panose="02020603050405020304" pitchFamily="18" charset="0"/>
            </a:endParaRPr>
          </a:p>
        </p:txBody>
      </p:sp>
      <p:grpSp>
        <p:nvGrpSpPr>
          <p:cNvPr id="16" name="Group 16"/>
          <p:cNvGrpSpPr/>
          <p:nvPr/>
        </p:nvGrpSpPr>
        <p:grpSpPr>
          <a:xfrm>
            <a:off x="877824" y="6883298"/>
            <a:ext cx="1977819" cy="396611"/>
            <a:chOff x="0" y="-9525"/>
            <a:chExt cx="2637092" cy="528814"/>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just">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3" name="TextBox 22">
            <a:extLst>
              <a:ext uri="{FF2B5EF4-FFF2-40B4-BE49-F238E27FC236}">
                <a16:creationId xmlns:a16="http://schemas.microsoft.com/office/drawing/2014/main" id="{EAE4B51C-F98B-36F0-40E9-CAB735FC9BA4}"/>
              </a:ext>
            </a:extLst>
          </p:cNvPr>
          <p:cNvSpPr txBox="1"/>
          <p:nvPr/>
        </p:nvSpPr>
        <p:spPr>
          <a:xfrm>
            <a:off x="491207" y="2157956"/>
            <a:ext cx="8917289"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This project successfully demonstrates how Big Data technologies can be used to monitor and analyze electricity consumption across a campus. By using HDFS for storage, Hive for data organization, Apache Spark for analytics, MySQL for processed data storage, and Flask/React with Power BI for visualization, the system provides meaningful insights into energy usage. It helps identify peak consumption hours, block-wise electricity usage, and energy wastage, enabling campus administrators to make informed decisions, reduce unnecessary power consumption, and improve overall energy efficiency.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pPr algn="just"/>
            <a:endParaRPr>
              <a:latin typeface="Times New Roman" panose="02020603050405020304" pitchFamily="18" charset="0"/>
              <a:cs typeface="Times New Roman" panose="02020603050405020304" pitchFamily="18" charset="0"/>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12" name="Group 12"/>
          <p:cNvGrpSpPr/>
          <p:nvPr/>
        </p:nvGrpSpPr>
        <p:grpSpPr>
          <a:xfrm>
            <a:off x="8816809" y="6870899"/>
            <a:ext cx="1108588" cy="416154"/>
            <a:chOff x="-78623" y="0"/>
            <a:chExt cx="1478117" cy="554872"/>
          </a:xfrm>
        </p:grpSpPr>
        <p:sp>
          <p:nvSpPr>
            <p:cNvPr id="13" name="Freeform 13"/>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4" name="TextBox 14"/>
            <p:cNvSpPr txBox="1"/>
            <p:nvPr/>
          </p:nvSpPr>
          <p:spPr>
            <a:xfrm>
              <a:off x="-78623" y="16532"/>
              <a:ext cx="1399489" cy="538340"/>
            </a:xfrm>
            <a:prstGeom prst="rect">
              <a:avLst/>
            </a:prstGeom>
          </p:spPr>
          <p:txBody>
            <a:bodyPr lIns="0" tIns="0" rIns="0" bIns="0" rtlCol="0" anchor="ctr"/>
            <a:lstStyle/>
            <a:p>
              <a:pPr algn="just">
                <a:lnSpc>
                  <a:spcPts val="1344"/>
                </a:lnSpc>
              </a:pPr>
              <a:r>
                <a:rPr lang="en-US" sz="1120" dirty="0">
                  <a:solidFill>
                    <a:srgbClr val="FFFFFF"/>
                  </a:solidFill>
                  <a:latin typeface="Times New Roman" panose="02020603050405020304" pitchFamily="18" charset="0"/>
                  <a:ea typeface="Times New Roman"/>
                  <a:cs typeface="Times New Roman" panose="02020603050405020304" pitchFamily="18" charset="0"/>
                  <a:sym typeface="Times New Roman"/>
                </a:rPr>
                <a:t>17</a:t>
              </a:r>
            </a:p>
          </p:txBody>
        </p:sp>
      </p:grpSp>
      <p:sp>
        <p:nvSpPr>
          <p:cNvPr id="15" name="TextBox 15"/>
          <p:cNvSpPr txBox="1"/>
          <p:nvPr/>
        </p:nvSpPr>
        <p:spPr>
          <a:xfrm>
            <a:off x="1338990" y="1909498"/>
            <a:ext cx="7850731" cy="276999"/>
          </a:xfrm>
          <a:prstGeom prst="rect">
            <a:avLst/>
          </a:prstGeom>
        </p:spPr>
        <p:txBody>
          <a:bodyPr lIns="0" tIns="0" rIns="0" bIns="0" rtlCol="0" anchor="t">
            <a:spAutoFit/>
          </a:bodyPr>
          <a:lstStyle/>
          <a:p>
            <a:pPr algn="just"/>
            <a:endParaRPr>
              <a:latin typeface="Times New Roman" panose="02020603050405020304" pitchFamily="18" charset="0"/>
              <a:cs typeface="Times New Roman" panose="02020603050405020304" pitchFamily="18" charset="0"/>
            </a:endParaRPr>
          </a:p>
        </p:txBody>
      </p:sp>
      <p:grpSp>
        <p:nvGrpSpPr>
          <p:cNvPr id="16" name="Group 16"/>
          <p:cNvGrpSpPr/>
          <p:nvPr/>
        </p:nvGrpSpPr>
        <p:grpSpPr>
          <a:xfrm>
            <a:off x="877824" y="6883298"/>
            <a:ext cx="1977819" cy="396611"/>
            <a:chOff x="0" y="-9525"/>
            <a:chExt cx="2637092" cy="528814"/>
          </a:xfrm>
        </p:grpSpPr>
        <p:sp>
          <p:nvSpPr>
            <p:cNvPr id="17" name="Freeform 17"/>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8" name="TextBox 18"/>
            <p:cNvSpPr txBox="1"/>
            <p:nvPr/>
          </p:nvSpPr>
          <p:spPr>
            <a:xfrm>
              <a:off x="0" y="-9525"/>
              <a:ext cx="2637092" cy="528814"/>
            </a:xfrm>
            <a:prstGeom prst="rect">
              <a:avLst/>
            </a:prstGeom>
          </p:spPr>
          <p:txBody>
            <a:bodyPr lIns="0" tIns="0" rIns="0" bIns="0" rtlCol="0" anchor="ctr"/>
            <a:lstStyle/>
            <a:p>
              <a:pPr algn="just">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07/8/2026</a:t>
              </a:r>
            </a:p>
          </p:txBody>
        </p:sp>
      </p:grpSp>
      <p:grpSp>
        <p:nvGrpSpPr>
          <p:cNvPr id="19" name="Group 19"/>
          <p:cNvGrpSpPr/>
          <p:nvPr/>
        </p:nvGrpSpPr>
        <p:grpSpPr>
          <a:xfrm>
            <a:off x="2948950" y="6890442"/>
            <a:ext cx="3858244" cy="389467"/>
            <a:chOff x="0" y="0"/>
            <a:chExt cx="5144326" cy="519289"/>
          </a:xfrm>
        </p:grpSpPr>
        <p:sp>
          <p:nvSpPr>
            <p:cNvPr id="20" name="Freeform 20"/>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21" name="TextBox 21"/>
            <p:cNvSpPr txBox="1"/>
            <p:nvPr/>
          </p:nvSpPr>
          <p:spPr>
            <a:xfrm>
              <a:off x="0" y="-9525"/>
              <a:ext cx="5144326" cy="528814"/>
            </a:xfrm>
            <a:prstGeom prst="rect">
              <a:avLst/>
            </a:prstGeom>
          </p:spPr>
          <p:txBody>
            <a:bodyPr lIns="0" tIns="0" rIns="0" bIns="0" rtlCol="0" anchor="ctr"/>
            <a:lstStyle/>
            <a:p>
              <a:pPr algn="ctr">
                <a:lnSpc>
                  <a:spcPts val="1152"/>
                </a:lnSpc>
              </a:pP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Department of computer science and engineering(Data Science)</a:t>
              </a:r>
            </a:p>
            <a:p>
              <a:pPr algn="ctr">
                <a:lnSpc>
                  <a:spcPts val="1152"/>
                </a:lnSpc>
              </a:pPr>
              <a:r>
                <a:rPr lang="en-US" sz="960" dirty="0" err="1">
                  <a:solidFill>
                    <a:srgbClr val="FFFFFF"/>
                  </a:solidFill>
                  <a:latin typeface="Times New Roman" panose="02020603050405020304" pitchFamily="18" charset="0"/>
                  <a:ea typeface="Times New Roman"/>
                  <a:cs typeface="Times New Roman" panose="02020603050405020304" pitchFamily="18" charset="0"/>
                  <a:sym typeface="Times New Roman"/>
                </a:rPr>
                <a:t>St.Thomas</a:t>
              </a:r>
              <a:r>
                <a:rPr lang="en-US" sz="960" dirty="0">
                  <a:solidFill>
                    <a:srgbClr val="FFFFFF"/>
                  </a:solidFill>
                  <a:latin typeface="Times New Roman" panose="02020603050405020304" pitchFamily="18" charset="0"/>
                  <a:ea typeface="Times New Roman"/>
                  <a:cs typeface="Times New Roman" panose="02020603050405020304" pitchFamily="18" charset="0"/>
                  <a:sym typeface="Times New Roman"/>
                </a:rPr>
                <a:t> Institute for Science &amp; Technology, Trivandrum</a:t>
              </a:r>
            </a:p>
          </p:txBody>
        </p:sp>
      </p:grpSp>
      <p:sp>
        <p:nvSpPr>
          <p:cNvPr id="24" name="TextBox 23">
            <a:extLst>
              <a:ext uri="{FF2B5EF4-FFF2-40B4-BE49-F238E27FC236}">
                <a16:creationId xmlns:a16="http://schemas.microsoft.com/office/drawing/2014/main" id="{1CA47570-F428-AC34-35AF-7F6E84B06126}"/>
              </a:ext>
            </a:extLst>
          </p:cNvPr>
          <p:cNvSpPr txBox="1"/>
          <p:nvPr/>
        </p:nvSpPr>
        <p:spPr>
          <a:xfrm>
            <a:off x="3454977" y="594493"/>
            <a:ext cx="4964020" cy="369332"/>
          </a:xfrm>
          <a:prstGeom prst="rect">
            <a:avLst/>
          </a:prstGeom>
          <a:noFill/>
        </p:spPr>
        <p:txBody>
          <a:bodyPr wrap="square">
            <a:spAutoFit/>
          </a:bodyPr>
          <a:lstStyle/>
          <a:p>
            <a:r>
              <a:rPr lang="en-US" dirty="0"/>
              <a:t>REFERENCE</a:t>
            </a:r>
          </a:p>
        </p:txBody>
      </p:sp>
    </p:spTree>
    <p:extLst>
      <p:ext uri="{BB962C8B-B14F-4D97-AF65-F5344CB8AC3E}">
        <p14:creationId xmlns:p14="http://schemas.microsoft.com/office/powerpoint/2010/main" val="124712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827520"/>
            <a:ext cx="9753600" cy="487680"/>
            <a:chOff x="0" y="0"/>
            <a:chExt cx="13004800" cy="650240"/>
          </a:xfrm>
        </p:grpSpPr>
        <p:sp>
          <p:nvSpPr>
            <p:cNvPr id="3" name="Freeform 3"/>
            <p:cNvSpPr/>
            <p:nvPr/>
          </p:nvSpPr>
          <p:spPr>
            <a:xfrm>
              <a:off x="0" y="0"/>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BD582C"/>
            </a:solidFill>
          </p:spPr>
        </p:sp>
      </p:grpSp>
      <p:grpSp>
        <p:nvGrpSpPr>
          <p:cNvPr id="4" name="Group 4"/>
          <p:cNvGrpSpPr/>
          <p:nvPr/>
        </p:nvGrpSpPr>
        <p:grpSpPr>
          <a:xfrm>
            <a:off x="0" y="6756606"/>
            <a:ext cx="9753600" cy="70399"/>
            <a:chOff x="0" y="0"/>
            <a:chExt cx="13004800" cy="93866"/>
          </a:xfrm>
        </p:grpSpPr>
        <p:sp>
          <p:nvSpPr>
            <p:cNvPr id="5" name="Freeform 5"/>
            <p:cNvSpPr/>
            <p:nvPr/>
          </p:nvSpPr>
          <p:spPr>
            <a:xfrm>
              <a:off x="0" y="0"/>
              <a:ext cx="13004800" cy="93853"/>
            </a:xfrm>
            <a:custGeom>
              <a:avLst/>
              <a:gdLst/>
              <a:ahLst/>
              <a:cxnLst/>
              <a:rect l="l" t="t" r="r" b="b"/>
              <a:pathLst>
                <a:path w="13004800" h="93853">
                  <a:moveTo>
                    <a:pt x="0" y="0"/>
                  </a:moveTo>
                  <a:lnTo>
                    <a:pt x="13004800" y="0"/>
                  </a:lnTo>
                  <a:lnTo>
                    <a:pt x="13004800" y="93853"/>
                  </a:lnTo>
                  <a:lnTo>
                    <a:pt x="0" y="93853"/>
                  </a:lnTo>
                  <a:close/>
                </a:path>
              </a:pathLst>
            </a:custGeom>
            <a:solidFill>
              <a:srgbClr val="E48312"/>
            </a:solidFill>
          </p:spPr>
        </p:sp>
      </p:grpSp>
      <p:sp>
        <p:nvSpPr>
          <p:cNvPr id="6" name="AutoShape 6"/>
          <p:cNvSpPr/>
          <p:nvPr/>
        </p:nvSpPr>
        <p:spPr>
          <a:xfrm rot="2940">
            <a:off x="951433" y="1848936"/>
            <a:ext cx="7980340" cy="0"/>
          </a:xfrm>
          <a:prstGeom prst="line">
            <a:avLst/>
          </a:prstGeom>
          <a:ln w="9525" cap="rnd">
            <a:solidFill>
              <a:srgbClr val="000000"/>
            </a:solidFill>
            <a:prstDash val="solid"/>
            <a:headEnd type="none" w="sm" len="sm"/>
            <a:tailEnd type="none" w="sm" len="sm"/>
          </a:ln>
        </p:spPr>
        <p:txBody>
          <a:bodyPr/>
          <a:lstStyle/>
          <a:p>
            <a:endParaRPr/>
          </a:p>
        </p:txBody>
      </p:sp>
      <p:grpSp>
        <p:nvGrpSpPr>
          <p:cNvPr id="7" name="Group 7"/>
          <p:cNvGrpSpPr/>
          <p:nvPr/>
        </p:nvGrpSpPr>
        <p:grpSpPr>
          <a:xfrm>
            <a:off x="0" y="190109"/>
            <a:ext cx="1644186" cy="1547470"/>
            <a:chOff x="0" y="0"/>
            <a:chExt cx="2192249" cy="2063293"/>
          </a:xfrm>
        </p:grpSpPr>
        <p:sp>
          <p:nvSpPr>
            <p:cNvPr id="8" name="Freeform 8"/>
            <p:cNvSpPr/>
            <p:nvPr/>
          </p:nvSpPr>
          <p:spPr>
            <a:xfrm>
              <a:off x="0" y="0"/>
              <a:ext cx="2192274" cy="2063242"/>
            </a:xfrm>
            <a:custGeom>
              <a:avLst/>
              <a:gdLst/>
              <a:ahLst/>
              <a:cxnLst/>
              <a:rect l="l" t="t" r="r" b="b"/>
              <a:pathLst>
                <a:path w="2192274" h="2063242">
                  <a:moveTo>
                    <a:pt x="0" y="0"/>
                  </a:moveTo>
                  <a:lnTo>
                    <a:pt x="2192274" y="0"/>
                  </a:lnTo>
                  <a:lnTo>
                    <a:pt x="2192274" y="2063242"/>
                  </a:lnTo>
                  <a:lnTo>
                    <a:pt x="0" y="2063242"/>
                  </a:lnTo>
                  <a:lnTo>
                    <a:pt x="0" y="0"/>
                  </a:lnTo>
                  <a:close/>
                </a:path>
              </a:pathLst>
            </a:custGeom>
            <a:blipFill>
              <a:blip r:embed="rId2"/>
              <a:stretch>
                <a:fillRect b="-2"/>
              </a:stretch>
            </a:blipFill>
          </p:spPr>
        </p:sp>
      </p:grpSp>
      <p:grpSp>
        <p:nvGrpSpPr>
          <p:cNvPr id="9" name="Group 9"/>
          <p:cNvGrpSpPr/>
          <p:nvPr/>
        </p:nvGrpSpPr>
        <p:grpSpPr>
          <a:xfrm>
            <a:off x="7920371" y="6890442"/>
            <a:ext cx="1049617" cy="389467"/>
            <a:chOff x="0" y="0"/>
            <a:chExt cx="1399489" cy="519289"/>
          </a:xfrm>
        </p:grpSpPr>
        <p:sp>
          <p:nvSpPr>
            <p:cNvPr id="10" name="Freeform 10"/>
            <p:cNvSpPr/>
            <p:nvPr/>
          </p:nvSpPr>
          <p:spPr>
            <a:xfrm>
              <a:off x="0" y="0"/>
              <a:ext cx="1399494" cy="519287"/>
            </a:xfrm>
            <a:custGeom>
              <a:avLst/>
              <a:gdLst/>
              <a:ahLst/>
              <a:cxnLst/>
              <a:rect l="l" t="t" r="r" b="b"/>
              <a:pathLst>
                <a:path w="1399494" h="519287">
                  <a:moveTo>
                    <a:pt x="0" y="0"/>
                  </a:moveTo>
                  <a:lnTo>
                    <a:pt x="1399494" y="0"/>
                  </a:lnTo>
                  <a:lnTo>
                    <a:pt x="1399494" y="519287"/>
                  </a:lnTo>
                  <a:lnTo>
                    <a:pt x="0" y="519287"/>
                  </a:lnTo>
                  <a:close/>
                </a:path>
              </a:pathLst>
            </a:custGeom>
            <a:blipFill>
              <a:blip r:embed="rId3">
                <a:alphaModFix amt="0"/>
              </a:blip>
              <a:stretch>
                <a:fillRect t="-2512" b="-2512"/>
              </a:stretch>
            </a:blipFill>
          </p:spPr>
        </p:sp>
        <p:sp>
          <p:nvSpPr>
            <p:cNvPr id="11" name="TextBox 11"/>
            <p:cNvSpPr txBox="1"/>
            <p:nvPr/>
          </p:nvSpPr>
          <p:spPr>
            <a:xfrm>
              <a:off x="0" y="-19050"/>
              <a:ext cx="1399489" cy="538339"/>
            </a:xfrm>
            <a:prstGeom prst="rect">
              <a:avLst/>
            </a:prstGeom>
          </p:spPr>
          <p:txBody>
            <a:bodyPr lIns="0" tIns="0" rIns="0" bIns="0" rtlCol="0" anchor="ctr"/>
            <a:lstStyle/>
            <a:p>
              <a:pPr algn="r">
                <a:lnSpc>
                  <a:spcPts val="1344"/>
                </a:lnSpc>
              </a:pPr>
              <a:r>
                <a:rPr lang="en-US" sz="1120" dirty="0">
                  <a:solidFill>
                    <a:srgbClr val="FFFFFF"/>
                  </a:solidFill>
                  <a:latin typeface="Times New Roman"/>
                  <a:ea typeface="Times New Roman"/>
                  <a:cs typeface="Times New Roman"/>
                  <a:sym typeface="Times New Roman"/>
                </a:rPr>
                <a:t>18</a:t>
              </a:r>
            </a:p>
          </p:txBody>
        </p:sp>
      </p:grpSp>
      <p:grpSp>
        <p:nvGrpSpPr>
          <p:cNvPr id="12" name="Group 12"/>
          <p:cNvGrpSpPr/>
          <p:nvPr/>
        </p:nvGrpSpPr>
        <p:grpSpPr>
          <a:xfrm>
            <a:off x="1436818" y="914400"/>
            <a:ext cx="8138484" cy="5486400"/>
            <a:chOff x="0" y="0"/>
            <a:chExt cx="10851312" cy="7315200"/>
          </a:xfrm>
        </p:grpSpPr>
        <p:sp>
          <p:nvSpPr>
            <p:cNvPr id="13" name="Freeform 13" descr="Free Thank you Any Questions Templates"/>
            <p:cNvSpPr/>
            <p:nvPr/>
          </p:nvSpPr>
          <p:spPr>
            <a:xfrm>
              <a:off x="0" y="0"/>
              <a:ext cx="10851261" cy="7315200"/>
            </a:xfrm>
            <a:custGeom>
              <a:avLst/>
              <a:gdLst/>
              <a:ahLst/>
              <a:cxnLst/>
              <a:rect l="l" t="t" r="r" b="b"/>
              <a:pathLst>
                <a:path w="10851261" h="7315200">
                  <a:moveTo>
                    <a:pt x="0" y="0"/>
                  </a:moveTo>
                  <a:lnTo>
                    <a:pt x="10851261" y="0"/>
                  </a:lnTo>
                  <a:lnTo>
                    <a:pt x="10851261" y="7315200"/>
                  </a:lnTo>
                  <a:lnTo>
                    <a:pt x="0" y="7315200"/>
                  </a:lnTo>
                  <a:lnTo>
                    <a:pt x="0" y="0"/>
                  </a:lnTo>
                  <a:close/>
                </a:path>
              </a:pathLst>
            </a:custGeom>
            <a:blipFill>
              <a:blip r:embed="rId4"/>
              <a:stretch>
                <a:fillRect r="-19845"/>
              </a:stretch>
            </a:blipFill>
          </p:spPr>
        </p:sp>
      </p:grpSp>
      <p:grpSp>
        <p:nvGrpSpPr>
          <p:cNvPr id="14" name="Group 14"/>
          <p:cNvGrpSpPr/>
          <p:nvPr/>
        </p:nvGrpSpPr>
        <p:grpSpPr>
          <a:xfrm>
            <a:off x="877824" y="6890442"/>
            <a:ext cx="1977819" cy="389467"/>
            <a:chOff x="0" y="0"/>
            <a:chExt cx="2637092" cy="519289"/>
          </a:xfrm>
        </p:grpSpPr>
        <p:sp>
          <p:nvSpPr>
            <p:cNvPr id="15" name="Freeform 15"/>
            <p:cNvSpPr/>
            <p:nvPr/>
          </p:nvSpPr>
          <p:spPr>
            <a:xfrm>
              <a:off x="0" y="0"/>
              <a:ext cx="2637089" cy="519287"/>
            </a:xfrm>
            <a:custGeom>
              <a:avLst/>
              <a:gdLst/>
              <a:ahLst/>
              <a:cxnLst/>
              <a:rect l="l" t="t" r="r" b="b"/>
              <a:pathLst>
                <a:path w="2637089" h="519287">
                  <a:moveTo>
                    <a:pt x="0" y="0"/>
                  </a:moveTo>
                  <a:lnTo>
                    <a:pt x="2637089" y="0"/>
                  </a:lnTo>
                  <a:lnTo>
                    <a:pt x="2637089" y="519287"/>
                  </a:lnTo>
                  <a:lnTo>
                    <a:pt x="0" y="519287"/>
                  </a:lnTo>
                  <a:close/>
                </a:path>
              </a:pathLst>
            </a:custGeom>
            <a:blipFill>
              <a:blip r:embed="rId3">
                <a:alphaModFix amt="0"/>
              </a:blip>
              <a:stretch>
                <a:fillRect t="-48950" b="-48950"/>
              </a:stretch>
            </a:blipFill>
          </p:spPr>
        </p:sp>
        <p:sp>
          <p:nvSpPr>
            <p:cNvPr id="16" name="TextBox 16"/>
            <p:cNvSpPr txBox="1"/>
            <p:nvPr/>
          </p:nvSpPr>
          <p:spPr>
            <a:xfrm>
              <a:off x="0" y="-9525"/>
              <a:ext cx="2637092" cy="528814"/>
            </a:xfrm>
            <a:prstGeom prst="rect">
              <a:avLst/>
            </a:prstGeom>
          </p:spPr>
          <p:txBody>
            <a:bodyPr lIns="0" tIns="0" rIns="0" bIns="0" rtlCol="0" anchor="ctr"/>
            <a:lstStyle/>
            <a:p>
              <a:pPr algn="l">
                <a:lnSpc>
                  <a:spcPts val="1152"/>
                </a:lnSpc>
              </a:pPr>
              <a:r>
                <a:rPr lang="en-US" sz="960" dirty="0">
                  <a:solidFill>
                    <a:srgbClr val="FFFFFF"/>
                  </a:solidFill>
                  <a:latin typeface="Times New Roman"/>
                  <a:ea typeface="Times New Roman"/>
                  <a:cs typeface="Times New Roman"/>
                  <a:sym typeface="Times New Roman"/>
                </a:rPr>
                <a:t>07/8/2026</a:t>
              </a:r>
            </a:p>
          </p:txBody>
        </p:sp>
      </p:grpSp>
      <p:grpSp>
        <p:nvGrpSpPr>
          <p:cNvPr id="17" name="Group 17"/>
          <p:cNvGrpSpPr/>
          <p:nvPr/>
        </p:nvGrpSpPr>
        <p:grpSpPr>
          <a:xfrm>
            <a:off x="2948950" y="6890442"/>
            <a:ext cx="3858244" cy="389467"/>
            <a:chOff x="0" y="0"/>
            <a:chExt cx="5144326" cy="519289"/>
          </a:xfrm>
        </p:grpSpPr>
        <p:sp>
          <p:nvSpPr>
            <p:cNvPr id="18" name="Freeform 18"/>
            <p:cNvSpPr/>
            <p:nvPr/>
          </p:nvSpPr>
          <p:spPr>
            <a:xfrm>
              <a:off x="0" y="0"/>
              <a:ext cx="5144324" cy="519287"/>
            </a:xfrm>
            <a:custGeom>
              <a:avLst/>
              <a:gdLst/>
              <a:ahLst/>
              <a:cxnLst/>
              <a:rect l="l" t="t" r="r" b="b"/>
              <a:pathLst>
                <a:path w="5144324" h="519287">
                  <a:moveTo>
                    <a:pt x="0" y="0"/>
                  </a:moveTo>
                  <a:lnTo>
                    <a:pt x="5144324" y="0"/>
                  </a:lnTo>
                  <a:lnTo>
                    <a:pt x="5144324" y="519287"/>
                  </a:lnTo>
                  <a:lnTo>
                    <a:pt x="0" y="519287"/>
                  </a:lnTo>
                  <a:close/>
                </a:path>
              </a:pathLst>
            </a:custGeom>
            <a:blipFill>
              <a:blip r:embed="rId3">
                <a:alphaModFix amt="0"/>
              </a:blip>
              <a:stretch>
                <a:fillRect t="-143028" b="-143028"/>
              </a:stretch>
            </a:blipFill>
          </p:spPr>
        </p:sp>
        <p:sp>
          <p:nvSpPr>
            <p:cNvPr id="19" name="TextBox 19"/>
            <p:cNvSpPr txBox="1"/>
            <p:nvPr/>
          </p:nvSpPr>
          <p:spPr>
            <a:xfrm>
              <a:off x="0" y="-9525"/>
              <a:ext cx="5144326" cy="528814"/>
            </a:xfrm>
            <a:prstGeom prst="rect">
              <a:avLst/>
            </a:prstGeom>
          </p:spPr>
          <p:txBody>
            <a:bodyPr lIns="0" tIns="0" rIns="0" bIns="0" rtlCol="0" anchor="ctr"/>
            <a:lstStyle/>
            <a:p>
              <a:pPr algn="ctr">
                <a:lnSpc>
                  <a:spcPts val="1152"/>
                </a:lnSpc>
              </a:pPr>
              <a:r>
                <a:rPr lang="en-US" sz="960">
                  <a:solidFill>
                    <a:srgbClr val="FFFFFF"/>
                  </a:solidFill>
                  <a:latin typeface="Times New Roman"/>
                  <a:ea typeface="Times New Roman"/>
                  <a:cs typeface="Times New Roman"/>
                  <a:sym typeface="Times New Roman"/>
                </a:rPr>
                <a:t> Department of computer science and engineering(Data Science)</a:t>
              </a:r>
            </a:p>
            <a:p>
              <a:pPr algn="ctr">
                <a:lnSpc>
                  <a:spcPts val="1152"/>
                </a:lnSpc>
              </a:pPr>
              <a:r>
                <a:rPr lang="en-US" sz="960">
                  <a:solidFill>
                    <a:srgbClr val="FFFFFF"/>
                  </a:solidFill>
                  <a:latin typeface="Times New Roman"/>
                  <a:ea typeface="Times New Roman"/>
                  <a:cs typeface="Times New Roman"/>
                  <a:sym typeface="Times New Roman"/>
                </a:rPr>
                <a:t>St.Thomas Institute for Science &amp; Technology, Trivandrum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2106</Words>
  <Application>Microsoft Office PowerPoint</Application>
  <PresentationFormat>Custom</PresentationFormat>
  <Paragraphs>271</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Times New Roman</vt:lpstr>
      <vt:lpstr>Arial</vt:lpstr>
      <vt:lpstr>Times New Roman Bold</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zeroth presentation template.pptx</dc:title>
  <dc:creator>GEETHU RAJ</dc:creator>
  <cp:lastModifiedBy>sandeep prem</cp:lastModifiedBy>
  <cp:revision>18</cp:revision>
  <dcterms:created xsi:type="dcterms:W3CDTF">2006-08-16T00:00:00Z</dcterms:created>
  <dcterms:modified xsi:type="dcterms:W3CDTF">2026-09-18T03:23:58Z</dcterms:modified>
  <dc:identifier>DAHCHlEo98s</dc:identifier>
</cp:coreProperties>
</file>